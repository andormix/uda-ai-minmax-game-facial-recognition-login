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66" r:id="rId3"/>
    <p:sldId id="267" r:id="rId4"/>
    <p:sldId id="257" r:id="rId5"/>
    <p:sldId id="259" r:id="rId6"/>
    <p:sldId id="258" r:id="rId7"/>
    <p:sldId id="261" r:id="rId8"/>
    <p:sldId id="260" r:id="rId9"/>
    <p:sldId id="262" r:id="rId10"/>
    <p:sldId id="268" r:id="rId11"/>
    <p:sldId id="270" r:id="rId12"/>
    <p:sldId id="269" r:id="rId13"/>
    <p:sldId id="271" r:id="rId14"/>
    <p:sldId id="272" r:id="rId15"/>
    <p:sldId id="273" r:id="rId16"/>
    <p:sldId id="274" r:id="rId17"/>
    <p:sldId id="275" r:id="rId18"/>
    <p:sldId id="279" r:id="rId19"/>
    <p:sldId id="276" r:id="rId20"/>
    <p:sldId id="292" r:id="rId21"/>
    <p:sldId id="282" r:id="rId22"/>
    <p:sldId id="283" r:id="rId23"/>
    <p:sldId id="263" r:id="rId24"/>
    <p:sldId id="264" r:id="rId25"/>
    <p:sldId id="265" r:id="rId26"/>
    <p:sldId id="280" r:id="rId27"/>
    <p:sldId id="281" r:id="rId28"/>
    <p:sldId id="285" r:id="rId29"/>
    <p:sldId id="287" r:id="rId30"/>
    <p:sldId id="289" r:id="rId31"/>
    <p:sldId id="288" r:id="rId32"/>
    <p:sldId id="286" r:id="rId33"/>
    <p:sldId id="290" r:id="rId34"/>
    <p:sldId id="291" r:id="rId35"/>
    <p:sldId id="28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ADFB64-1D78-4338-A27F-4296CE96A218}" type="datetimeFigureOut">
              <a:rPr lang="en-US" smtClean="0"/>
              <a:t>6/21/2022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3478484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ADFB64-1D78-4338-A27F-4296CE96A218}" type="datetimeFigureOut">
              <a:rPr lang="en-US" smtClean="0"/>
              <a:t>6/21/2022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227941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ADFB64-1D78-4338-A27F-4296CE96A218}" type="datetimeFigureOut">
              <a:rPr lang="en-US" smtClean="0"/>
              <a:t>6/21/2022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2756490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1754206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ADFB64-1D78-4338-A27F-4296CE96A218}" type="datetimeFigureOut">
              <a:rPr lang="en-US" smtClean="0"/>
              <a:t>6/21/2022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3229064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ADFB64-1D78-4338-A27F-4296CE96A218}" type="datetimeFigureOut">
              <a:rPr lang="en-US" smtClean="0"/>
              <a:t>6/21/2022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231041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ADFB64-1D78-4338-A27F-4296CE96A218}" type="datetimeFigureOut">
              <a:rPr lang="en-US" smtClean="0"/>
              <a:t>6/21/2022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3727022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3918236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949543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2315366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982922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69119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ADFB64-1D78-4338-A27F-4296CE96A218}" type="datetimeFigureOut">
              <a:rPr lang="en-US" smtClean="0"/>
              <a:t>6/21/2022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18811456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DADFB64-1D78-4338-A27F-4296CE96A218}" type="datetimeFigureOut">
              <a:rPr lang="en-US" smtClean="0"/>
              <a:t>6/21/2022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51823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DADFB64-1D78-4338-A27F-4296CE96A218}" type="datetimeFigureOut">
              <a:rPr lang="en-US" smtClean="0"/>
              <a:t>6/21/2022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20715690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ADFB64-1D78-4338-A27F-4296CE96A218}" type="datetimeFigureOut">
              <a:rPr lang="en-US" smtClean="0"/>
              <a:t>6/21/2022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4248518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ADFB64-1D78-4338-A27F-4296CE96A218}" type="datetimeFigureOut">
              <a:rPr lang="en-US" smtClean="0"/>
              <a:t>6/21/2022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405A92-E972-4B55-9154-E118A2609DFD}" type="slidenum">
              <a:rPr lang="en-US" smtClean="0"/>
              <a:t>‹#›</a:t>
            </a:fld>
            <a:endParaRPr lang="en-US"/>
          </a:p>
        </p:txBody>
      </p:sp>
    </p:spTree>
    <p:extLst>
      <p:ext uri="{BB962C8B-B14F-4D97-AF65-F5344CB8AC3E}">
        <p14:creationId xmlns:p14="http://schemas.microsoft.com/office/powerpoint/2010/main" val="714349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DADFB64-1D78-4338-A27F-4296CE96A218}" type="datetimeFigureOut">
              <a:rPr lang="en-US" smtClean="0"/>
              <a:t>6/21/2022</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3405A92-E972-4B55-9154-E118A2609DFD}" type="slidenum">
              <a:rPr lang="en-US" smtClean="0"/>
              <a:t>‹#›</a:t>
            </a:fld>
            <a:endParaRPr lang="en-US"/>
          </a:p>
        </p:txBody>
      </p:sp>
    </p:spTree>
    <p:extLst>
      <p:ext uri="{BB962C8B-B14F-4D97-AF65-F5344CB8AC3E}">
        <p14:creationId xmlns:p14="http://schemas.microsoft.com/office/powerpoint/2010/main" val="3121637002"/>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youtube.com/watch?v=PmZ29Vta7Vc&amp;t=39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998C-F101-2C78-C2E8-82E7B407E7CB}"/>
              </a:ext>
            </a:extLst>
          </p:cNvPr>
          <p:cNvSpPr>
            <a:spLocks noGrp="1"/>
          </p:cNvSpPr>
          <p:nvPr>
            <p:ph type="ctrTitle"/>
          </p:nvPr>
        </p:nvSpPr>
        <p:spPr/>
        <p:txBody>
          <a:bodyPr>
            <a:normAutofit/>
          </a:bodyPr>
          <a:lstStyle/>
          <a:p>
            <a:pPr marL="0" marR="0">
              <a:lnSpc>
                <a:spcPct val="107000"/>
              </a:lnSpc>
              <a:spcBef>
                <a:spcPts val="0"/>
              </a:spcBef>
              <a:spcAft>
                <a:spcPts val="800"/>
              </a:spcAft>
            </a:pPr>
            <a:r>
              <a:rPr lang="ca-ES" sz="2800" b="1" dirty="0">
                <a:solidFill>
                  <a:schemeClr val="tx1"/>
                </a:solidFill>
                <a:effectLst/>
                <a:latin typeface="Calibri" panose="020F0502020204030204" pitchFamily="34" charset="0"/>
                <a:ea typeface="MS Mincho" panose="02020609040205080304" pitchFamily="49" charset="-128"/>
                <a:cs typeface="Calibri" panose="020F0502020204030204" pitchFamily="34" charset="0"/>
              </a:rPr>
              <a:t>REPTE PARADIGMES DE LA PROGRAMACIÓ I BASES DE DADES  </a:t>
            </a:r>
            <a:br>
              <a:rPr lang="en-US" sz="2800" dirty="0">
                <a:solidFill>
                  <a:schemeClr val="tx1"/>
                </a:solidFill>
                <a:effectLst/>
                <a:latin typeface="Calibri" panose="020F0502020204030204" pitchFamily="34" charset="0"/>
                <a:ea typeface="MS Mincho" panose="02020609040205080304" pitchFamily="49" charset="-128"/>
                <a:cs typeface="Times New Roman" panose="02020603050405020304" pitchFamily="18" charset="0"/>
              </a:rPr>
            </a:br>
            <a:r>
              <a:rPr lang="ca-ES" sz="2800" b="1" dirty="0">
                <a:solidFill>
                  <a:schemeClr val="tx1"/>
                </a:solidFill>
                <a:effectLst/>
                <a:latin typeface="Calibri" panose="020F0502020204030204" pitchFamily="34" charset="0"/>
                <a:ea typeface="MS Mincho" panose="02020609040205080304" pitchFamily="49" charset="-128"/>
              </a:rPr>
              <a:t>Al. Eric Torrentera Ruiz</a:t>
            </a:r>
            <a:endParaRPr lang="en-US" sz="7200" dirty="0">
              <a:solidFill>
                <a:schemeClr val="tx1"/>
              </a:solidFill>
            </a:endParaRPr>
          </a:p>
        </p:txBody>
      </p:sp>
      <p:sp>
        <p:nvSpPr>
          <p:cNvPr id="3" name="Subtitle 2">
            <a:extLst>
              <a:ext uri="{FF2B5EF4-FFF2-40B4-BE49-F238E27FC236}">
                <a16:creationId xmlns:a16="http://schemas.microsoft.com/office/drawing/2014/main" id="{522F0906-5236-D843-801D-59ECA844B5C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9212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77FE04-FB0C-7A6C-DC99-722DC12C9088}"/>
              </a:ext>
            </a:extLst>
          </p:cNvPr>
          <p:cNvPicPr>
            <a:picLocks noChangeAspect="1"/>
          </p:cNvPicPr>
          <p:nvPr/>
        </p:nvPicPr>
        <p:blipFill>
          <a:blip r:embed="rId2"/>
          <a:stretch>
            <a:fillRect/>
          </a:stretch>
        </p:blipFill>
        <p:spPr>
          <a:xfrm>
            <a:off x="-120074" y="812"/>
            <a:ext cx="12404437" cy="6957396"/>
          </a:xfrm>
          <a:prstGeom prst="rect">
            <a:avLst/>
          </a:prstGeom>
        </p:spPr>
      </p:pic>
    </p:spTree>
    <p:extLst>
      <p:ext uri="{BB962C8B-B14F-4D97-AF65-F5344CB8AC3E}">
        <p14:creationId xmlns:p14="http://schemas.microsoft.com/office/powerpoint/2010/main" val="877664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50A385-4C03-FF56-0A70-1C2026B4D93A}"/>
              </a:ext>
            </a:extLst>
          </p:cNvPr>
          <p:cNvPicPr>
            <a:picLocks noChangeAspect="1"/>
          </p:cNvPicPr>
          <p:nvPr/>
        </p:nvPicPr>
        <p:blipFill>
          <a:blip r:embed="rId2"/>
          <a:stretch>
            <a:fillRect/>
          </a:stretch>
        </p:blipFill>
        <p:spPr>
          <a:xfrm>
            <a:off x="-100297" y="0"/>
            <a:ext cx="12421606" cy="6874055"/>
          </a:xfrm>
          <a:prstGeom prst="rect">
            <a:avLst/>
          </a:prstGeom>
        </p:spPr>
      </p:pic>
    </p:spTree>
    <p:extLst>
      <p:ext uri="{BB962C8B-B14F-4D97-AF65-F5344CB8AC3E}">
        <p14:creationId xmlns:p14="http://schemas.microsoft.com/office/powerpoint/2010/main" val="3639945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CBB1-969F-F027-7DC7-7CFFB6E05B86}"/>
              </a:ext>
            </a:extLst>
          </p:cNvPr>
          <p:cNvSpPr>
            <a:spLocks noGrp="1"/>
          </p:cNvSpPr>
          <p:nvPr>
            <p:ph type="title"/>
          </p:nvPr>
        </p:nvSpPr>
        <p:spPr/>
        <p:txBody>
          <a:bodyPr/>
          <a:lstStyle/>
          <a:p>
            <a:r>
              <a:rPr lang="en-US" dirty="0"/>
              <a:t>SPLATOON TAD LOE</a:t>
            </a:r>
          </a:p>
        </p:txBody>
      </p:sp>
      <p:sp>
        <p:nvSpPr>
          <p:cNvPr id="3" name="Content Placeholder 2">
            <a:extLst>
              <a:ext uri="{FF2B5EF4-FFF2-40B4-BE49-F238E27FC236}">
                <a16:creationId xmlns:a16="http://schemas.microsoft.com/office/drawing/2014/main" id="{DC8F340C-CE0E-0002-FBB0-FFB1ECBFA159}"/>
              </a:ext>
            </a:extLst>
          </p:cNvPr>
          <p:cNvSpPr>
            <a:spLocks noGrp="1"/>
          </p:cNvSpPr>
          <p:nvPr>
            <p:ph idx="1"/>
          </p:nvPr>
        </p:nvSpPr>
        <p:spPr/>
        <p:txBody>
          <a:bodyPr/>
          <a:lstStyle/>
          <a:p>
            <a:pPr marL="260350" marR="0">
              <a:lnSpc>
                <a:spcPct val="107000"/>
              </a:lnSpc>
              <a:spcBef>
                <a:spcPts val="0"/>
              </a:spcBef>
              <a:spcAft>
                <a:spcPts val="800"/>
              </a:spcAft>
            </a:pPr>
            <a:r>
              <a:rPr lang="ca-ES" sz="1800" dirty="0">
                <a:effectLst/>
                <a:latin typeface="Calibri" panose="020F0502020204030204" pitchFamily="34" charset="0"/>
                <a:ea typeface="MS Mincho" panose="02020609040205080304" pitchFamily="49" charset="-128"/>
                <a:cs typeface="Calibri" panose="020F0502020204030204" pitchFamily="34" charset="0"/>
              </a:rPr>
              <a:t>Com </a:t>
            </a:r>
            <a:r>
              <a:rPr lang="ca-ES" sz="1800" dirty="0" err="1">
                <a:effectLst/>
                <a:latin typeface="Calibri" panose="020F0502020204030204" pitchFamily="34" charset="0"/>
                <a:ea typeface="MS Mincho" panose="02020609040205080304" pitchFamily="49" charset="-128"/>
                <a:cs typeface="Calibri" panose="020F0502020204030204" pitchFamily="34" charset="0"/>
              </a:rPr>
              <a:t>Python</a:t>
            </a:r>
            <a:r>
              <a:rPr lang="ca-ES" sz="1800" dirty="0">
                <a:effectLst/>
                <a:latin typeface="Calibri" panose="020F0502020204030204" pitchFamily="34" charset="0"/>
                <a:ea typeface="MS Mincho" panose="02020609040205080304" pitchFamily="49" charset="-128"/>
                <a:cs typeface="Calibri" panose="020F0502020204030204" pitchFamily="34" charset="0"/>
              </a:rPr>
              <a:t> no té punters, he fet servir una tècnica per simular la utilització de punters en llenguatges que no en tenen (LOE). On índexs són nombres naturals que fan referència a</a:t>
            </a:r>
            <a:r>
              <a:rPr lang="ca-ES" sz="1800" dirty="0">
                <a:effectLst/>
                <a:latin typeface="Calibri" panose="020F0502020204030204" pitchFamily="34" charset="0"/>
                <a:ea typeface="MS Mincho" panose="02020609040205080304" pitchFamily="49" charset="-128"/>
              </a:rPr>
              <a:t>posicions dintre d'un vector. </a:t>
            </a:r>
            <a:endParaRPr lang="en-US" dirty="0"/>
          </a:p>
        </p:txBody>
      </p:sp>
      <p:pic>
        <p:nvPicPr>
          <p:cNvPr id="5" name="Picture 4">
            <a:extLst>
              <a:ext uri="{FF2B5EF4-FFF2-40B4-BE49-F238E27FC236}">
                <a16:creationId xmlns:a16="http://schemas.microsoft.com/office/drawing/2014/main" id="{07CD2A8B-B8BE-BF1A-62FA-6BC11203A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483" y="2698309"/>
            <a:ext cx="2090680" cy="3245290"/>
          </a:xfrm>
          <a:prstGeom prst="rect">
            <a:avLst/>
          </a:prstGeom>
        </p:spPr>
      </p:pic>
      <p:pic>
        <p:nvPicPr>
          <p:cNvPr id="7" name="Picture 6">
            <a:extLst>
              <a:ext uri="{FF2B5EF4-FFF2-40B4-BE49-F238E27FC236}">
                <a16:creationId xmlns:a16="http://schemas.microsoft.com/office/drawing/2014/main" id="{37B9D511-8A5A-94DE-108A-CA8B3AE2A4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6448" y="2652331"/>
            <a:ext cx="4965152" cy="3291268"/>
          </a:xfrm>
          <a:prstGeom prst="rect">
            <a:avLst/>
          </a:prstGeom>
        </p:spPr>
      </p:pic>
    </p:spTree>
    <p:extLst>
      <p:ext uri="{BB962C8B-B14F-4D97-AF65-F5344CB8AC3E}">
        <p14:creationId xmlns:p14="http://schemas.microsoft.com/office/powerpoint/2010/main" val="3153119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CBB1-969F-F027-7DC7-7CFFB6E05B86}"/>
              </a:ext>
            </a:extLst>
          </p:cNvPr>
          <p:cNvSpPr>
            <a:spLocks noGrp="1"/>
          </p:cNvSpPr>
          <p:nvPr>
            <p:ph type="title"/>
          </p:nvPr>
        </p:nvSpPr>
        <p:spPr/>
        <p:txBody>
          <a:bodyPr/>
          <a:lstStyle/>
          <a:p>
            <a:r>
              <a:rPr lang="en-US" dirty="0"/>
              <a:t>SPLATOON TAD LOE</a:t>
            </a:r>
          </a:p>
        </p:txBody>
      </p:sp>
      <p:sp>
        <p:nvSpPr>
          <p:cNvPr id="3" name="Content Placeholder 2">
            <a:extLst>
              <a:ext uri="{FF2B5EF4-FFF2-40B4-BE49-F238E27FC236}">
                <a16:creationId xmlns:a16="http://schemas.microsoft.com/office/drawing/2014/main" id="{DC8F340C-CE0E-0002-FBB0-FFB1ECBFA159}"/>
              </a:ext>
            </a:extLst>
          </p:cNvPr>
          <p:cNvSpPr>
            <a:spLocks noGrp="1"/>
          </p:cNvSpPr>
          <p:nvPr>
            <p:ph idx="1"/>
          </p:nvPr>
        </p:nvSpPr>
        <p:spPr/>
        <p:txBody>
          <a:bodyPr/>
          <a:lstStyle/>
          <a:p>
            <a:pPr marL="260350" marR="0">
              <a:lnSpc>
                <a:spcPct val="107000"/>
              </a:lnSpc>
              <a:spcBef>
                <a:spcPts val="0"/>
              </a:spcBef>
              <a:spcAft>
                <a:spcPts val="800"/>
              </a:spcAft>
            </a:pPr>
            <a:r>
              <a:rPr lang="ca-ES" sz="1800" dirty="0">
                <a:effectLst/>
                <a:latin typeface="Calibri" panose="020F0502020204030204" pitchFamily="34" charset="0"/>
                <a:ea typeface="MS Mincho" panose="02020609040205080304" pitchFamily="49" charset="-128"/>
              </a:rPr>
              <a:t>Considerarem la llista enllaçada formada per nodus, on cada nodus és un element de la llista format per camps amb informació i un camp final que indica quin és el següent nodus de la llista; és a dir, cada nodus porta associat un enllaç al següent nodus lògic. Figura -b- (1)</a:t>
            </a:r>
          </a:p>
          <a:p>
            <a:pPr marL="260350" marR="0">
              <a:lnSpc>
                <a:spcPct val="107000"/>
              </a:lnSpc>
              <a:spcBef>
                <a:spcPts val="0"/>
              </a:spcBef>
              <a:spcAft>
                <a:spcPts val="800"/>
              </a:spcAft>
            </a:pPr>
            <a:endParaRPr lang="en-US" dirty="0"/>
          </a:p>
        </p:txBody>
      </p:sp>
      <p:pic>
        <p:nvPicPr>
          <p:cNvPr id="5" name="Picture 4">
            <a:extLst>
              <a:ext uri="{FF2B5EF4-FFF2-40B4-BE49-F238E27FC236}">
                <a16:creationId xmlns:a16="http://schemas.microsoft.com/office/drawing/2014/main" id="{07CD2A8B-B8BE-BF1A-62FA-6BC11203AD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483" y="2836854"/>
            <a:ext cx="2090680" cy="3245290"/>
          </a:xfrm>
          <a:prstGeom prst="rect">
            <a:avLst/>
          </a:prstGeom>
        </p:spPr>
      </p:pic>
      <p:pic>
        <p:nvPicPr>
          <p:cNvPr id="7" name="Picture 6">
            <a:extLst>
              <a:ext uri="{FF2B5EF4-FFF2-40B4-BE49-F238E27FC236}">
                <a16:creationId xmlns:a16="http://schemas.microsoft.com/office/drawing/2014/main" id="{37B9D511-8A5A-94DE-108A-CA8B3AE2A4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63" y="2836854"/>
            <a:ext cx="4965152" cy="3291268"/>
          </a:xfrm>
          <a:prstGeom prst="rect">
            <a:avLst/>
          </a:prstGeom>
        </p:spPr>
      </p:pic>
    </p:spTree>
    <p:extLst>
      <p:ext uri="{BB962C8B-B14F-4D97-AF65-F5344CB8AC3E}">
        <p14:creationId xmlns:p14="http://schemas.microsoft.com/office/powerpoint/2010/main" val="341993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FAF5F-5FB4-2E61-1BB1-B7730AC9E3CD}"/>
              </a:ext>
            </a:extLst>
          </p:cNvPr>
          <p:cNvSpPr>
            <a:spLocks noGrp="1"/>
          </p:cNvSpPr>
          <p:nvPr>
            <p:ph type="title"/>
          </p:nvPr>
        </p:nvSpPr>
        <p:spPr/>
        <p:txBody>
          <a:bodyPr/>
          <a:lstStyle/>
          <a:p>
            <a:r>
              <a:rPr lang="en-US" dirty="0"/>
              <a:t>TAD MOVIMENT</a:t>
            </a:r>
          </a:p>
        </p:txBody>
      </p:sp>
      <p:pic>
        <p:nvPicPr>
          <p:cNvPr id="5" name="Content Placeholder 4">
            <a:extLst>
              <a:ext uri="{FF2B5EF4-FFF2-40B4-BE49-F238E27FC236}">
                <a16:creationId xmlns:a16="http://schemas.microsoft.com/office/drawing/2014/main" id="{76428E4B-AA49-9344-1AF6-D34EE6B76B9F}"/>
              </a:ext>
            </a:extLst>
          </p:cNvPr>
          <p:cNvPicPr>
            <a:picLocks noGrp="1" noChangeAspect="1"/>
          </p:cNvPicPr>
          <p:nvPr>
            <p:ph idx="1"/>
          </p:nvPr>
        </p:nvPicPr>
        <p:blipFill>
          <a:blip r:embed="rId2"/>
          <a:stretch>
            <a:fillRect/>
          </a:stretch>
        </p:blipFill>
        <p:spPr>
          <a:xfrm>
            <a:off x="2667035" y="1731963"/>
            <a:ext cx="6848405" cy="4059237"/>
          </a:xfrm>
        </p:spPr>
      </p:pic>
    </p:spTree>
    <p:extLst>
      <p:ext uri="{BB962C8B-B14F-4D97-AF65-F5344CB8AC3E}">
        <p14:creationId xmlns:p14="http://schemas.microsoft.com/office/powerpoint/2010/main" val="3942223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FAF5F-5FB4-2E61-1BB1-B7730AC9E3CD}"/>
              </a:ext>
            </a:extLst>
          </p:cNvPr>
          <p:cNvSpPr>
            <a:spLocks noGrp="1"/>
          </p:cNvSpPr>
          <p:nvPr>
            <p:ph type="title"/>
          </p:nvPr>
        </p:nvSpPr>
        <p:spPr/>
        <p:txBody>
          <a:bodyPr/>
          <a:lstStyle/>
          <a:p>
            <a:r>
              <a:rPr lang="en-US" dirty="0"/>
              <a:t>TAD MOVIMENT</a:t>
            </a:r>
          </a:p>
        </p:txBody>
      </p:sp>
      <p:pic>
        <p:nvPicPr>
          <p:cNvPr id="8" name="Picture 7">
            <a:extLst>
              <a:ext uri="{FF2B5EF4-FFF2-40B4-BE49-F238E27FC236}">
                <a16:creationId xmlns:a16="http://schemas.microsoft.com/office/drawing/2014/main" id="{D90D1143-4FE4-D5DB-29E2-393E49A8E2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432" y="1681884"/>
            <a:ext cx="6832044" cy="4566516"/>
          </a:xfrm>
          <a:prstGeom prst="rect">
            <a:avLst/>
          </a:prstGeom>
        </p:spPr>
      </p:pic>
    </p:spTree>
    <p:extLst>
      <p:ext uri="{BB962C8B-B14F-4D97-AF65-F5344CB8AC3E}">
        <p14:creationId xmlns:p14="http://schemas.microsoft.com/office/powerpoint/2010/main" val="136933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7D7D-CA2B-21CD-C2EF-04081FF499E7}"/>
              </a:ext>
            </a:extLst>
          </p:cNvPr>
          <p:cNvSpPr>
            <a:spLocks noGrp="1"/>
          </p:cNvSpPr>
          <p:nvPr>
            <p:ph type="title"/>
          </p:nvPr>
        </p:nvSpPr>
        <p:spPr/>
        <p:txBody>
          <a:bodyPr>
            <a:normAutofit/>
          </a:bodyPr>
          <a:lstStyle/>
          <a:p>
            <a:r>
              <a:rPr lang="en-US" dirty="0"/>
              <a:t>TAD PARTIDA</a:t>
            </a:r>
          </a:p>
        </p:txBody>
      </p:sp>
      <p:pic>
        <p:nvPicPr>
          <p:cNvPr id="5" name="Picture 4">
            <a:extLst>
              <a:ext uri="{FF2B5EF4-FFF2-40B4-BE49-F238E27FC236}">
                <a16:creationId xmlns:a16="http://schemas.microsoft.com/office/drawing/2014/main" id="{80A93A1E-3CA2-52F4-ACAF-08164B3AA132}"/>
              </a:ext>
            </a:extLst>
          </p:cNvPr>
          <p:cNvPicPr>
            <a:picLocks noChangeAspect="1"/>
          </p:cNvPicPr>
          <p:nvPr/>
        </p:nvPicPr>
        <p:blipFill>
          <a:blip r:embed="rId2"/>
          <a:stretch>
            <a:fillRect/>
          </a:stretch>
        </p:blipFill>
        <p:spPr>
          <a:xfrm>
            <a:off x="2775541" y="1602943"/>
            <a:ext cx="6630269" cy="4645457"/>
          </a:xfrm>
          <a:prstGeom prst="rect">
            <a:avLst/>
          </a:prstGeom>
        </p:spPr>
      </p:pic>
    </p:spTree>
    <p:extLst>
      <p:ext uri="{BB962C8B-B14F-4D97-AF65-F5344CB8AC3E}">
        <p14:creationId xmlns:p14="http://schemas.microsoft.com/office/powerpoint/2010/main" val="2983151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B93DC1-68EE-FEA2-119D-7BA49D8E2BD2}"/>
              </a:ext>
            </a:extLst>
          </p:cNvPr>
          <p:cNvPicPr>
            <a:picLocks noChangeAspect="1"/>
          </p:cNvPicPr>
          <p:nvPr/>
        </p:nvPicPr>
        <p:blipFill>
          <a:blip r:embed="rId2"/>
          <a:stretch>
            <a:fillRect/>
          </a:stretch>
        </p:blipFill>
        <p:spPr>
          <a:xfrm>
            <a:off x="0" y="-16164"/>
            <a:ext cx="8836695" cy="6874164"/>
          </a:xfrm>
          <a:prstGeom prst="rect">
            <a:avLst/>
          </a:prstGeom>
        </p:spPr>
      </p:pic>
      <p:pic>
        <p:nvPicPr>
          <p:cNvPr id="9" name="Picture 8">
            <a:extLst>
              <a:ext uri="{FF2B5EF4-FFF2-40B4-BE49-F238E27FC236}">
                <a16:creationId xmlns:a16="http://schemas.microsoft.com/office/drawing/2014/main" id="{D9778144-42C3-314D-D3FD-A7BB916F51A3}"/>
              </a:ext>
            </a:extLst>
          </p:cNvPr>
          <p:cNvPicPr>
            <a:picLocks noChangeAspect="1"/>
          </p:cNvPicPr>
          <p:nvPr/>
        </p:nvPicPr>
        <p:blipFill>
          <a:blip r:embed="rId3"/>
          <a:stretch>
            <a:fillRect/>
          </a:stretch>
        </p:blipFill>
        <p:spPr>
          <a:xfrm>
            <a:off x="8119203" y="0"/>
            <a:ext cx="4072797" cy="2864572"/>
          </a:xfrm>
          <a:prstGeom prst="rect">
            <a:avLst/>
          </a:prstGeom>
        </p:spPr>
      </p:pic>
      <p:pic>
        <p:nvPicPr>
          <p:cNvPr id="11" name="Picture 10">
            <a:extLst>
              <a:ext uri="{FF2B5EF4-FFF2-40B4-BE49-F238E27FC236}">
                <a16:creationId xmlns:a16="http://schemas.microsoft.com/office/drawing/2014/main" id="{88DC47A1-55DE-DCB1-5A8A-F724E32C272C}"/>
              </a:ext>
            </a:extLst>
          </p:cNvPr>
          <p:cNvPicPr>
            <a:picLocks noChangeAspect="1"/>
          </p:cNvPicPr>
          <p:nvPr/>
        </p:nvPicPr>
        <p:blipFill>
          <a:blip r:embed="rId4"/>
          <a:stretch>
            <a:fillRect/>
          </a:stretch>
        </p:blipFill>
        <p:spPr>
          <a:xfrm>
            <a:off x="8700655" y="2793277"/>
            <a:ext cx="3491345" cy="4064723"/>
          </a:xfrm>
          <a:prstGeom prst="rect">
            <a:avLst/>
          </a:prstGeom>
        </p:spPr>
      </p:pic>
      <p:pic>
        <p:nvPicPr>
          <p:cNvPr id="12" name="Picture 11">
            <a:extLst>
              <a:ext uri="{FF2B5EF4-FFF2-40B4-BE49-F238E27FC236}">
                <a16:creationId xmlns:a16="http://schemas.microsoft.com/office/drawing/2014/main" id="{F6FC6BC9-F40D-4580-FE44-7C2F83529843}"/>
              </a:ext>
            </a:extLst>
          </p:cNvPr>
          <p:cNvPicPr>
            <a:picLocks noChangeAspect="1"/>
          </p:cNvPicPr>
          <p:nvPr/>
        </p:nvPicPr>
        <p:blipFill rotWithShape="1">
          <a:blip r:embed="rId5"/>
          <a:srcRect r="17299"/>
          <a:stretch/>
        </p:blipFill>
        <p:spPr>
          <a:xfrm>
            <a:off x="8353576" y="3061131"/>
            <a:ext cx="3838424" cy="3251923"/>
          </a:xfrm>
          <a:prstGeom prst="rect">
            <a:avLst/>
          </a:prstGeom>
        </p:spPr>
      </p:pic>
    </p:spTree>
    <p:extLst>
      <p:ext uri="{BB962C8B-B14F-4D97-AF65-F5344CB8AC3E}">
        <p14:creationId xmlns:p14="http://schemas.microsoft.com/office/powerpoint/2010/main" val="1264412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DD9C-AC29-2AC8-0C63-5677D6B37E42}"/>
              </a:ext>
            </a:extLst>
          </p:cNvPr>
          <p:cNvSpPr>
            <a:spLocks noGrp="1"/>
          </p:cNvSpPr>
          <p:nvPr>
            <p:ph type="title"/>
          </p:nvPr>
        </p:nvSpPr>
        <p:spPr>
          <a:xfrm>
            <a:off x="919119" y="360218"/>
            <a:ext cx="10353762" cy="970450"/>
          </a:xfrm>
        </p:spPr>
        <p:txBody>
          <a:bodyPr/>
          <a:lstStyle/>
          <a:p>
            <a:r>
              <a:rPr lang="en-US" dirty="0"/>
              <a:t>OPERACIONS</a:t>
            </a:r>
          </a:p>
        </p:txBody>
      </p:sp>
      <p:pic>
        <p:nvPicPr>
          <p:cNvPr id="5" name="Content Placeholder 4">
            <a:extLst>
              <a:ext uri="{FF2B5EF4-FFF2-40B4-BE49-F238E27FC236}">
                <a16:creationId xmlns:a16="http://schemas.microsoft.com/office/drawing/2014/main" id="{54D34CEF-BC08-DA9C-0741-37850AA2110F}"/>
              </a:ext>
            </a:extLst>
          </p:cNvPr>
          <p:cNvPicPr>
            <a:picLocks noGrp="1" noChangeAspect="1"/>
          </p:cNvPicPr>
          <p:nvPr>
            <p:ph idx="1"/>
          </p:nvPr>
        </p:nvPicPr>
        <p:blipFill>
          <a:blip r:embed="rId2"/>
          <a:stretch>
            <a:fillRect/>
          </a:stretch>
        </p:blipFill>
        <p:spPr>
          <a:xfrm>
            <a:off x="1019175" y="1428389"/>
            <a:ext cx="6877050" cy="1447800"/>
          </a:xfrm>
        </p:spPr>
      </p:pic>
      <p:pic>
        <p:nvPicPr>
          <p:cNvPr id="7" name="Picture 6">
            <a:extLst>
              <a:ext uri="{FF2B5EF4-FFF2-40B4-BE49-F238E27FC236}">
                <a16:creationId xmlns:a16="http://schemas.microsoft.com/office/drawing/2014/main" id="{9B524BBF-8DD2-E5E5-95E4-687BE91D55E3}"/>
              </a:ext>
            </a:extLst>
          </p:cNvPr>
          <p:cNvPicPr>
            <a:picLocks noChangeAspect="1"/>
          </p:cNvPicPr>
          <p:nvPr/>
        </p:nvPicPr>
        <p:blipFill>
          <a:blip r:embed="rId3"/>
          <a:stretch>
            <a:fillRect/>
          </a:stretch>
        </p:blipFill>
        <p:spPr>
          <a:xfrm>
            <a:off x="5628121" y="2876189"/>
            <a:ext cx="5143500" cy="2190750"/>
          </a:xfrm>
          <a:prstGeom prst="rect">
            <a:avLst/>
          </a:prstGeom>
        </p:spPr>
      </p:pic>
      <p:pic>
        <p:nvPicPr>
          <p:cNvPr id="9" name="Picture 8">
            <a:extLst>
              <a:ext uri="{FF2B5EF4-FFF2-40B4-BE49-F238E27FC236}">
                <a16:creationId xmlns:a16="http://schemas.microsoft.com/office/drawing/2014/main" id="{803D9658-1990-BA1C-1021-F028A4C23C5A}"/>
              </a:ext>
            </a:extLst>
          </p:cNvPr>
          <p:cNvPicPr>
            <a:picLocks noChangeAspect="1"/>
          </p:cNvPicPr>
          <p:nvPr/>
        </p:nvPicPr>
        <p:blipFill>
          <a:blip r:embed="rId4"/>
          <a:stretch>
            <a:fillRect/>
          </a:stretch>
        </p:blipFill>
        <p:spPr>
          <a:xfrm>
            <a:off x="1019175" y="2876189"/>
            <a:ext cx="4608946" cy="3450548"/>
          </a:xfrm>
          <a:prstGeom prst="rect">
            <a:avLst/>
          </a:prstGeom>
        </p:spPr>
      </p:pic>
      <p:pic>
        <p:nvPicPr>
          <p:cNvPr id="15" name="Picture 14">
            <a:extLst>
              <a:ext uri="{FF2B5EF4-FFF2-40B4-BE49-F238E27FC236}">
                <a16:creationId xmlns:a16="http://schemas.microsoft.com/office/drawing/2014/main" id="{061E7EDD-58CC-565A-2DF5-63D6EC430E08}"/>
              </a:ext>
            </a:extLst>
          </p:cNvPr>
          <p:cNvPicPr>
            <a:picLocks noChangeAspect="1"/>
          </p:cNvPicPr>
          <p:nvPr/>
        </p:nvPicPr>
        <p:blipFill>
          <a:blip r:embed="rId5"/>
          <a:stretch>
            <a:fillRect/>
          </a:stretch>
        </p:blipFill>
        <p:spPr>
          <a:xfrm>
            <a:off x="5027323" y="1418432"/>
            <a:ext cx="6829425" cy="447675"/>
          </a:xfrm>
          <a:prstGeom prst="rect">
            <a:avLst/>
          </a:prstGeom>
        </p:spPr>
      </p:pic>
    </p:spTree>
    <p:extLst>
      <p:ext uri="{BB962C8B-B14F-4D97-AF65-F5344CB8AC3E}">
        <p14:creationId xmlns:p14="http://schemas.microsoft.com/office/powerpoint/2010/main" val="1118866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6BFBF-9793-BCF7-3F47-A90BF1E3E801}"/>
              </a:ext>
            </a:extLst>
          </p:cNvPr>
          <p:cNvSpPr>
            <a:spLocks noGrp="1"/>
          </p:cNvSpPr>
          <p:nvPr>
            <p:ph type="title"/>
          </p:nvPr>
        </p:nvSpPr>
        <p:spPr/>
        <p:txBody>
          <a:bodyPr/>
          <a:lstStyle/>
          <a:p>
            <a:r>
              <a:rPr lang="en-US" dirty="0"/>
              <a:t>RECONEIXEMENT FACIAL</a:t>
            </a:r>
          </a:p>
        </p:txBody>
      </p:sp>
      <p:pic>
        <p:nvPicPr>
          <p:cNvPr id="4" name="Picture 3">
            <a:extLst>
              <a:ext uri="{FF2B5EF4-FFF2-40B4-BE49-F238E27FC236}">
                <a16:creationId xmlns:a16="http://schemas.microsoft.com/office/drawing/2014/main" id="{760F058B-8AAD-6052-0488-18532B350FD6}"/>
              </a:ext>
            </a:extLst>
          </p:cNvPr>
          <p:cNvPicPr>
            <a:picLocks noChangeAspect="1"/>
          </p:cNvPicPr>
          <p:nvPr/>
        </p:nvPicPr>
        <p:blipFill>
          <a:blip r:embed="rId2"/>
          <a:stretch>
            <a:fillRect/>
          </a:stretch>
        </p:blipFill>
        <p:spPr>
          <a:xfrm>
            <a:off x="2153227" y="1732449"/>
            <a:ext cx="7885545" cy="4825684"/>
          </a:xfrm>
          <a:prstGeom prst="rect">
            <a:avLst/>
          </a:prstGeom>
        </p:spPr>
      </p:pic>
    </p:spTree>
    <p:extLst>
      <p:ext uri="{BB962C8B-B14F-4D97-AF65-F5344CB8AC3E}">
        <p14:creationId xmlns:p14="http://schemas.microsoft.com/office/powerpoint/2010/main" val="4113865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172E-991A-3587-F08B-8ADA1C110697}"/>
              </a:ext>
            </a:extLst>
          </p:cNvPr>
          <p:cNvSpPr>
            <a:spLocks noGrp="1"/>
          </p:cNvSpPr>
          <p:nvPr>
            <p:ph type="title"/>
          </p:nvPr>
        </p:nvSpPr>
        <p:spPr/>
        <p:txBody>
          <a:bodyPr/>
          <a:lstStyle/>
          <a:p>
            <a:r>
              <a:rPr lang="ca-ES" dirty="0"/>
              <a:t>Adquirir imatges</a:t>
            </a:r>
          </a:p>
        </p:txBody>
      </p:sp>
      <p:sp>
        <p:nvSpPr>
          <p:cNvPr id="3" name="Content Placeholder 2">
            <a:extLst>
              <a:ext uri="{FF2B5EF4-FFF2-40B4-BE49-F238E27FC236}">
                <a16:creationId xmlns:a16="http://schemas.microsoft.com/office/drawing/2014/main" id="{E8722658-F420-7CB8-CE4D-61A43811650C}"/>
              </a:ext>
            </a:extLst>
          </p:cNvPr>
          <p:cNvSpPr>
            <a:spLocks noGrp="1"/>
          </p:cNvSpPr>
          <p:nvPr>
            <p:ph idx="1"/>
          </p:nvPr>
        </p:nvSpPr>
        <p:spPr>
          <a:xfrm>
            <a:off x="913795" y="1732449"/>
            <a:ext cx="3972241" cy="4058751"/>
          </a:xfrm>
        </p:spPr>
        <p:txBody>
          <a:bodyPr/>
          <a:lstStyle/>
          <a:p>
            <a:r>
              <a:rPr lang="ca-ES" sz="1800" dirty="0">
                <a:effectLst/>
                <a:latin typeface="Calibri" panose="020F0502020204030204" pitchFamily="34" charset="0"/>
                <a:ea typeface="MS Mincho" panose="02020609040205080304" pitchFamily="49" charset="-128"/>
              </a:rPr>
              <a:t>He definit </a:t>
            </a:r>
            <a:r>
              <a:rPr lang="ca-ES" sz="1800" b="1" dirty="0" err="1">
                <a:effectLst/>
                <a:latin typeface="Calibri" panose="020F0502020204030204" pitchFamily="34" charset="0"/>
                <a:ea typeface="MS Mincho" panose="02020609040205080304" pitchFamily="49" charset="-128"/>
              </a:rPr>
              <a:t>Crear_perfil</a:t>
            </a:r>
            <a:r>
              <a:rPr lang="ca-ES" sz="1800" b="1" dirty="0">
                <a:effectLst/>
                <a:latin typeface="Calibri" panose="020F0502020204030204" pitchFamily="34" charset="0"/>
                <a:ea typeface="MS Mincho" panose="02020609040205080304" pitchFamily="49" charset="-128"/>
              </a:rPr>
              <a:t>()</a:t>
            </a:r>
            <a:r>
              <a:rPr lang="ca-ES" sz="1800" dirty="0">
                <a:effectLst/>
                <a:latin typeface="Calibri" panose="020F0502020204030204" pitchFamily="34" charset="0"/>
                <a:ea typeface="MS Mincho" panose="02020609040205080304" pitchFamily="49" charset="-128"/>
              </a:rPr>
              <a:t>. Aquesta funció el que fa principalment es recol·lectar les 50 imatges d’un usuari per tal de emplenar el Dataset. Durant el procés pesem la imatge a escala de grisos ja que l’algorisme que utilitzarem està basat en escala de grisos. Transformem les imatges a binari i les pugem a la nostra base de dades associat al Nick que hem registrat i amb el numero de imatge. Una vegada tenim les imatges pujades a MYSQL l’usuari podrà fer el </a:t>
            </a:r>
            <a:r>
              <a:rPr lang="ca-ES" sz="1800" dirty="0" err="1">
                <a:effectLst/>
                <a:latin typeface="Calibri" panose="020F0502020204030204" pitchFamily="34" charset="0"/>
                <a:ea typeface="MS Mincho" panose="02020609040205080304" pitchFamily="49" charset="-128"/>
              </a:rPr>
              <a:t>login</a:t>
            </a:r>
            <a:r>
              <a:rPr lang="ca-ES" sz="1800" dirty="0">
                <a:effectLst/>
                <a:latin typeface="Calibri" panose="020F0502020204030204" pitchFamily="34" charset="0"/>
                <a:ea typeface="MS Mincho" panose="02020609040205080304" pitchFamily="49" charset="-128"/>
              </a:rPr>
              <a:t>.</a:t>
            </a:r>
            <a:endParaRPr lang="en-US" dirty="0"/>
          </a:p>
        </p:txBody>
      </p:sp>
      <p:pic>
        <p:nvPicPr>
          <p:cNvPr id="7" name="Picture 6">
            <a:extLst>
              <a:ext uri="{FF2B5EF4-FFF2-40B4-BE49-F238E27FC236}">
                <a16:creationId xmlns:a16="http://schemas.microsoft.com/office/drawing/2014/main" id="{0F64639E-C426-DBC9-7832-C4BA8C2384B6}"/>
              </a:ext>
            </a:extLst>
          </p:cNvPr>
          <p:cNvPicPr>
            <a:picLocks noChangeAspect="1"/>
          </p:cNvPicPr>
          <p:nvPr/>
        </p:nvPicPr>
        <p:blipFill>
          <a:blip r:embed="rId2"/>
          <a:stretch>
            <a:fillRect/>
          </a:stretch>
        </p:blipFill>
        <p:spPr>
          <a:xfrm>
            <a:off x="4886036" y="1884848"/>
            <a:ext cx="6648827" cy="4058751"/>
          </a:xfrm>
          <a:prstGeom prst="rect">
            <a:avLst/>
          </a:prstGeom>
        </p:spPr>
      </p:pic>
    </p:spTree>
    <p:extLst>
      <p:ext uri="{BB962C8B-B14F-4D97-AF65-F5344CB8AC3E}">
        <p14:creationId xmlns:p14="http://schemas.microsoft.com/office/powerpoint/2010/main" val="2959577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A7F0-2CAC-293E-2B8E-8AACE481F5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42D2E8-1DB7-263A-EFCC-85E0277F61D9}"/>
              </a:ext>
            </a:extLst>
          </p:cNvPr>
          <p:cNvSpPr>
            <a:spLocks noGrp="1"/>
          </p:cNvSpPr>
          <p:nvPr>
            <p:ph idx="1"/>
          </p:nvPr>
        </p:nvSpPr>
        <p:spPr/>
        <p:txBody>
          <a:bodyPr/>
          <a:lstStyle/>
          <a:p>
            <a:r>
              <a:rPr lang="ca-ES" sz="1800" dirty="0">
                <a:effectLst/>
                <a:latin typeface="Calibri" panose="020F0502020204030204" pitchFamily="34" charset="0"/>
                <a:ea typeface="MS Mincho" panose="02020609040205080304" pitchFamily="49" charset="-128"/>
              </a:rPr>
              <a:t>Tot seguit he definit </a:t>
            </a:r>
            <a:r>
              <a:rPr lang="ca-ES" sz="1800" b="1" dirty="0" err="1">
                <a:effectLst/>
                <a:latin typeface="Calibri" panose="020F0502020204030204" pitchFamily="34" charset="0"/>
                <a:ea typeface="MS Mincho" panose="02020609040205080304" pitchFamily="49" charset="-128"/>
              </a:rPr>
              <a:t>Load_MYSQL_Dataset</a:t>
            </a:r>
            <a:r>
              <a:rPr lang="ca-ES" sz="1800" b="1" dirty="0">
                <a:effectLst/>
                <a:latin typeface="Calibri" panose="020F0502020204030204" pitchFamily="34" charset="0"/>
                <a:ea typeface="MS Mincho" panose="02020609040205080304" pitchFamily="49" charset="-128"/>
              </a:rPr>
              <a:t>()</a:t>
            </a:r>
            <a:r>
              <a:rPr lang="ca-ES" sz="1800" dirty="0">
                <a:effectLst/>
                <a:latin typeface="Calibri" panose="020F0502020204030204" pitchFamily="34" charset="0"/>
                <a:ea typeface="MS Mincho" panose="02020609040205080304" pitchFamily="49" charset="-128"/>
              </a:rPr>
              <a:t> que el que fa es baixar les imatges i posar-les en diferents carpetes per </a:t>
            </a:r>
            <a:r>
              <a:rPr lang="ca-ES" sz="1800" dirty="0" err="1">
                <a:effectLst/>
                <a:latin typeface="Calibri" panose="020F0502020204030204" pitchFamily="34" charset="0"/>
                <a:ea typeface="MS Mincho" panose="02020609040205080304" pitchFamily="49" charset="-128"/>
              </a:rPr>
              <a:t>Nickname</a:t>
            </a:r>
            <a:r>
              <a:rPr lang="ca-ES" sz="1800" dirty="0">
                <a:effectLst/>
                <a:latin typeface="Calibri" panose="020F0502020204030204" pitchFamily="34" charset="0"/>
                <a:ea typeface="MS Mincho" panose="02020609040205080304" pitchFamily="49" charset="-128"/>
              </a:rPr>
              <a:t> dintre del nostre directori de </a:t>
            </a:r>
            <a:r>
              <a:rPr lang="ca-ES" sz="1800" dirty="0" err="1">
                <a:effectLst/>
                <a:latin typeface="Calibri" panose="020F0502020204030204" pitchFamily="34" charset="0"/>
                <a:ea typeface="MS Mincho" panose="02020609040205080304" pitchFamily="49" charset="-128"/>
              </a:rPr>
              <a:t>Splatoon</a:t>
            </a:r>
            <a:r>
              <a:rPr lang="ca-ES" sz="1800" dirty="0">
                <a:effectLst/>
                <a:latin typeface="Calibri" panose="020F0502020204030204" pitchFamily="34" charset="0"/>
                <a:ea typeface="MS Mincho" panose="02020609040205080304" pitchFamily="49" charset="-128"/>
              </a:rPr>
              <a:t>, si no existeixen.</a:t>
            </a:r>
          </a:p>
          <a:p>
            <a:endParaRPr lang="ca-ES" sz="1800" dirty="0">
              <a:effectLst/>
              <a:latin typeface="Calibri" panose="020F0502020204030204" pitchFamily="34" charset="0"/>
              <a:ea typeface="MS Mincho" panose="02020609040205080304" pitchFamily="49" charset="-128"/>
            </a:endParaRPr>
          </a:p>
          <a:p>
            <a:endParaRPr lang="en-US" dirty="0"/>
          </a:p>
        </p:txBody>
      </p:sp>
      <p:pic>
        <p:nvPicPr>
          <p:cNvPr id="4" name="Picture 3">
            <a:extLst>
              <a:ext uri="{FF2B5EF4-FFF2-40B4-BE49-F238E27FC236}">
                <a16:creationId xmlns:a16="http://schemas.microsoft.com/office/drawing/2014/main" id="{1736D1A0-DC19-961A-C90C-1D09BF5CF61D}"/>
              </a:ext>
            </a:extLst>
          </p:cNvPr>
          <p:cNvPicPr>
            <a:picLocks noChangeAspect="1"/>
          </p:cNvPicPr>
          <p:nvPr/>
        </p:nvPicPr>
        <p:blipFill>
          <a:blip r:embed="rId2"/>
          <a:stretch>
            <a:fillRect/>
          </a:stretch>
        </p:blipFill>
        <p:spPr>
          <a:xfrm>
            <a:off x="2098498" y="2826328"/>
            <a:ext cx="7984356" cy="3276599"/>
          </a:xfrm>
          <a:prstGeom prst="rect">
            <a:avLst/>
          </a:prstGeom>
        </p:spPr>
      </p:pic>
    </p:spTree>
    <p:extLst>
      <p:ext uri="{BB962C8B-B14F-4D97-AF65-F5344CB8AC3E}">
        <p14:creationId xmlns:p14="http://schemas.microsoft.com/office/powerpoint/2010/main" val="2649727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BEC2-B61B-8621-4257-865F024A3B66}"/>
              </a:ext>
            </a:extLst>
          </p:cNvPr>
          <p:cNvSpPr>
            <a:spLocks noGrp="1"/>
          </p:cNvSpPr>
          <p:nvPr>
            <p:ph type="title"/>
          </p:nvPr>
        </p:nvSpPr>
        <p:spPr/>
        <p:txBody>
          <a:bodyPr/>
          <a:lstStyle/>
          <a:p>
            <a:r>
              <a:rPr lang="en-US" dirty="0" err="1"/>
              <a:t>Entrenament</a:t>
            </a:r>
            <a:endParaRPr lang="en-US" dirty="0"/>
          </a:p>
        </p:txBody>
      </p:sp>
      <p:sp>
        <p:nvSpPr>
          <p:cNvPr id="3" name="Content Placeholder 2">
            <a:extLst>
              <a:ext uri="{FF2B5EF4-FFF2-40B4-BE49-F238E27FC236}">
                <a16:creationId xmlns:a16="http://schemas.microsoft.com/office/drawing/2014/main" id="{492CCF4D-DCEB-36C1-231F-D3BB983747CA}"/>
              </a:ext>
            </a:extLst>
          </p:cNvPr>
          <p:cNvSpPr>
            <a:spLocks noGrp="1"/>
          </p:cNvSpPr>
          <p:nvPr>
            <p:ph idx="1"/>
          </p:nvPr>
        </p:nvSpPr>
        <p:spPr/>
        <p:txBody>
          <a:bodyPr>
            <a:normAutofit/>
          </a:bodyPr>
          <a:lstStyle/>
          <a:p>
            <a:r>
              <a:rPr lang="ca-ES" sz="1800" dirty="0">
                <a:solidFill>
                  <a:schemeClr val="tx1"/>
                </a:solidFill>
                <a:effectLst/>
                <a:latin typeface="Calibri" panose="020F0502020204030204" pitchFamily="34" charset="0"/>
                <a:ea typeface="MS Mincho" panose="02020609040205080304" pitchFamily="49" charset="-128"/>
              </a:rPr>
              <a:t>Tot seguit he definit </a:t>
            </a:r>
            <a:r>
              <a:rPr lang="ca-ES" sz="1800" b="1" dirty="0" err="1">
                <a:solidFill>
                  <a:schemeClr val="tx1"/>
                </a:solidFill>
                <a:effectLst/>
                <a:latin typeface="Calibri" panose="020F0502020204030204" pitchFamily="34" charset="0"/>
                <a:ea typeface="MS Mincho" panose="02020609040205080304" pitchFamily="49" charset="-128"/>
              </a:rPr>
              <a:t>Crear_YML</a:t>
            </a:r>
            <a:r>
              <a:rPr lang="ca-ES" sz="1800" b="1" dirty="0">
                <a:solidFill>
                  <a:schemeClr val="tx1"/>
                </a:solidFill>
                <a:effectLst/>
                <a:latin typeface="Calibri" panose="020F0502020204030204" pitchFamily="34" charset="0"/>
                <a:ea typeface="MS Mincho" panose="02020609040205080304" pitchFamily="49" charset="-128"/>
              </a:rPr>
              <a:t>()</a:t>
            </a:r>
            <a:r>
              <a:rPr lang="ca-ES" sz="1800" dirty="0">
                <a:solidFill>
                  <a:schemeClr val="tx1"/>
                </a:solidFill>
                <a:effectLst/>
                <a:latin typeface="Calibri" panose="020F0502020204030204" pitchFamily="34" charset="0"/>
                <a:ea typeface="MS Mincho" panose="02020609040205080304" pitchFamily="49" charset="-128"/>
              </a:rPr>
              <a:t> que per tal de fer la identificació del rostre utilitza l'algoritme de detecció haarcascade_frontalcatface.xml existent en la nostra llibreria de </a:t>
            </a:r>
            <a:r>
              <a:rPr lang="ca-ES" sz="1800" dirty="0" err="1">
                <a:solidFill>
                  <a:schemeClr val="tx1"/>
                </a:solidFill>
                <a:effectLst/>
                <a:latin typeface="Calibri" panose="020F0502020204030204" pitchFamily="34" charset="0"/>
                <a:ea typeface="MS Mincho" panose="02020609040205080304" pitchFamily="49" charset="-128"/>
              </a:rPr>
              <a:t>OpenCV</a:t>
            </a:r>
            <a:r>
              <a:rPr lang="ca-ES" sz="1800" dirty="0">
                <a:solidFill>
                  <a:schemeClr val="tx1"/>
                </a:solidFill>
                <a:effectLst/>
                <a:latin typeface="Calibri" panose="020F0502020204030204" pitchFamily="34" charset="0"/>
                <a:ea typeface="MS Mincho" panose="02020609040205080304" pitchFamily="49" charset="-128"/>
              </a:rPr>
              <a:t>. </a:t>
            </a:r>
            <a:r>
              <a:rPr lang="en-US" sz="1800" dirty="0" err="1">
                <a:solidFill>
                  <a:schemeClr val="tx1"/>
                </a:solidFill>
                <a:effectLst/>
              </a:rPr>
              <a:t>Aquesta</a:t>
            </a:r>
            <a:r>
              <a:rPr lang="en-US" sz="1800" dirty="0">
                <a:solidFill>
                  <a:schemeClr val="tx1"/>
                </a:solidFill>
                <a:effectLst/>
              </a:rPr>
              <a:t> </a:t>
            </a:r>
            <a:r>
              <a:rPr lang="en-US" sz="1800" dirty="0" err="1">
                <a:solidFill>
                  <a:schemeClr val="tx1"/>
                </a:solidFill>
                <a:effectLst/>
              </a:rPr>
              <a:t>funció</a:t>
            </a:r>
            <a:r>
              <a:rPr lang="en-US" sz="1800" dirty="0">
                <a:solidFill>
                  <a:schemeClr val="tx1"/>
                </a:solidFill>
                <a:effectLst/>
              </a:rPr>
              <a:t> </a:t>
            </a:r>
            <a:r>
              <a:rPr lang="en-US" sz="1800" dirty="0" err="1">
                <a:solidFill>
                  <a:schemeClr val="tx1"/>
                </a:solidFill>
                <a:effectLst/>
              </a:rPr>
              <a:t>utilitza</a:t>
            </a:r>
            <a:r>
              <a:rPr lang="en-US" sz="1800" dirty="0">
                <a:solidFill>
                  <a:schemeClr val="tx1"/>
                </a:solidFill>
                <a:effectLst/>
              </a:rPr>
              <a:t> la </a:t>
            </a:r>
            <a:r>
              <a:rPr lang="en-US" sz="1800" dirty="0" err="1">
                <a:solidFill>
                  <a:schemeClr val="tx1"/>
                </a:solidFill>
                <a:effectLst/>
              </a:rPr>
              <a:t>carpeta</a:t>
            </a:r>
            <a:r>
              <a:rPr lang="en-US" sz="1800" dirty="0">
                <a:solidFill>
                  <a:schemeClr val="tx1"/>
                </a:solidFill>
                <a:effectLst/>
              </a:rPr>
              <a:t> on hem </a:t>
            </a:r>
            <a:r>
              <a:rPr lang="en-US" sz="1800" dirty="0" err="1">
                <a:solidFill>
                  <a:schemeClr val="tx1"/>
                </a:solidFill>
                <a:effectLst/>
              </a:rPr>
              <a:t>guardat</a:t>
            </a:r>
            <a:r>
              <a:rPr lang="en-US" sz="1800" dirty="0">
                <a:solidFill>
                  <a:schemeClr val="tx1"/>
                </a:solidFill>
                <a:effectLst/>
              </a:rPr>
              <a:t> </a:t>
            </a:r>
            <a:r>
              <a:rPr lang="en-US" sz="1800" dirty="0" err="1">
                <a:solidFill>
                  <a:schemeClr val="tx1"/>
                </a:solidFill>
                <a:effectLst/>
              </a:rPr>
              <a:t>el</a:t>
            </a:r>
            <a:r>
              <a:rPr lang="en-US" sz="1800" dirty="0">
                <a:solidFill>
                  <a:schemeClr val="tx1"/>
                </a:solidFill>
                <a:effectLst/>
              </a:rPr>
              <a:t> </a:t>
            </a:r>
            <a:r>
              <a:rPr lang="en-US" sz="1800" dirty="0" err="1">
                <a:solidFill>
                  <a:schemeClr val="tx1"/>
                </a:solidFill>
                <a:effectLst/>
              </a:rPr>
              <a:t>nostre</a:t>
            </a:r>
            <a:r>
              <a:rPr lang="en-US" sz="1800" dirty="0">
                <a:solidFill>
                  <a:schemeClr val="tx1"/>
                </a:solidFill>
                <a:effectLst/>
              </a:rPr>
              <a:t> Dataset </a:t>
            </a:r>
            <a:r>
              <a:rPr lang="en-US" sz="1800" dirty="0" err="1">
                <a:solidFill>
                  <a:schemeClr val="tx1"/>
                </a:solidFill>
                <a:effectLst/>
              </a:rPr>
              <a:t>i</a:t>
            </a:r>
            <a:r>
              <a:rPr lang="en-US" sz="1800" dirty="0">
                <a:solidFill>
                  <a:schemeClr val="tx1"/>
                </a:solidFill>
                <a:effectLst/>
              </a:rPr>
              <a:t> </a:t>
            </a:r>
            <a:r>
              <a:rPr lang="en-US" sz="1800" dirty="0" err="1">
                <a:solidFill>
                  <a:schemeClr val="tx1"/>
                </a:solidFill>
                <a:effectLst/>
              </a:rPr>
              <a:t>extreu</a:t>
            </a:r>
            <a:r>
              <a:rPr lang="en-US" sz="1800" dirty="0">
                <a:solidFill>
                  <a:schemeClr val="tx1"/>
                </a:solidFill>
                <a:effectLst/>
              </a:rPr>
              <a:t> </a:t>
            </a:r>
            <a:r>
              <a:rPr lang="en-US" sz="1800" dirty="0" err="1">
                <a:solidFill>
                  <a:schemeClr val="tx1"/>
                </a:solidFill>
                <a:effectLst/>
              </a:rPr>
              <a:t>els</a:t>
            </a:r>
            <a:r>
              <a:rPr lang="en-US" sz="1800" dirty="0">
                <a:solidFill>
                  <a:schemeClr val="tx1"/>
                </a:solidFill>
                <a:effectLst/>
              </a:rPr>
              <a:t> nicks (</a:t>
            </a:r>
            <a:r>
              <a:rPr lang="en-US" sz="1800" dirty="0" err="1">
                <a:solidFill>
                  <a:schemeClr val="tx1"/>
                </a:solidFill>
                <a:effectLst/>
              </a:rPr>
              <a:t>etiquetes</a:t>
            </a:r>
            <a:r>
              <a:rPr lang="en-US" sz="1800" dirty="0">
                <a:solidFill>
                  <a:schemeClr val="tx1"/>
                </a:solidFill>
                <a:effectLst/>
              </a:rPr>
              <a:t>) les cares de les </a:t>
            </a:r>
            <a:r>
              <a:rPr lang="en-US" sz="1800" dirty="0" err="1">
                <a:solidFill>
                  <a:schemeClr val="tx1"/>
                </a:solidFill>
                <a:effectLst/>
              </a:rPr>
              <a:t>fotos</a:t>
            </a:r>
            <a:r>
              <a:rPr lang="en-US" sz="1800" dirty="0">
                <a:solidFill>
                  <a:schemeClr val="tx1"/>
                </a:solidFill>
                <a:effectLst/>
              </a:rPr>
              <a:t> </a:t>
            </a:r>
            <a:r>
              <a:rPr lang="en-US" sz="1800" dirty="0" err="1">
                <a:solidFill>
                  <a:schemeClr val="tx1"/>
                </a:solidFill>
                <a:effectLst/>
              </a:rPr>
              <a:t>i</a:t>
            </a:r>
            <a:r>
              <a:rPr lang="en-US" sz="1800" dirty="0">
                <a:solidFill>
                  <a:schemeClr val="tx1"/>
                </a:solidFill>
                <a:effectLst/>
              </a:rPr>
              <a:t> </a:t>
            </a:r>
            <a:r>
              <a:rPr lang="en-US" sz="1800" dirty="0" err="1">
                <a:solidFill>
                  <a:schemeClr val="tx1"/>
                </a:solidFill>
                <a:effectLst/>
              </a:rPr>
              <a:t>crea</a:t>
            </a:r>
            <a:r>
              <a:rPr lang="en-US" sz="1800" dirty="0">
                <a:solidFill>
                  <a:schemeClr val="tx1"/>
                </a:solidFill>
                <a:effectLst/>
              </a:rPr>
              <a:t> un </a:t>
            </a:r>
            <a:r>
              <a:rPr lang="en-US" sz="1800" dirty="0" err="1">
                <a:solidFill>
                  <a:schemeClr val="tx1"/>
                </a:solidFill>
                <a:effectLst/>
              </a:rPr>
              <a:t>arxiu</a:t>
            </a:r>
            <a:r>
              <a:rPr lang="en-US" sz="1800" dirty="0">
                <a:solidFill>
                  <a:schemeClr val="tx1"/>
                </a:solidFill>
                <a:effectLst/>
              </a:rPr>
              <a:t> .</a:t>
            </a:r>
            <a:r>
              <a:rPr lang="en-US" sz="1800" dirty="0" err="1">
                <a:solidFill>
                  <a:schemeClr val="tx1"/>
                </a:solidFill>
                <a:effectLst/>
              </a:rPr>
              <a:t>yml</a:t>
            </a:r>
            <a:r>
              <a:rPr lang="en-US" sz="1800" dirty="0">
                <a:solidFill>
                  <a:schemeClr val="tx1"/>
                </a:solidFill>
                <a:effectLst/>
              </a:rPr>
              <a:t> que </a:t>
            </a:r>
            <a:r>
              <a:rPr lang="en-US" sz="1800" dirty="0" err="1">
                <a:solidFill>
                  <a:schemeClr val="tx1"/>
                </a:solidFill>
                <a:effectLst/>
              </a:rPr>
              <a:t>utilitzarem</a:t>
            </a:r>
            <a:r>
              <a:rPr lang="en-US" sz="1800" dirty="0">
                <a:solidFill>
                  <a:schemeClr val="tx1"/>
                </a:solidFill>
                <a:effectLst/>
              </a:rPr>
              <a:t> per fer </a:t>
            </a:r>
            <a:r>
              <a:rPr lang="en-US" sz="1800" dirty="0" err="1">
                <a:solidFill>
                  <a:schemeClr val="tx1"/>
                </a:solidFill>
                <a:effectLst/>
              </a:rPr>
              <a:t>el</a:t>
            </a:r>
            <a:r>
              <a:rPr lang="en-US" sz="1800" dirty="0">
                <a:solidFill>
                  <a:schemeClr val="tx1"/>
                </a:solidFill>
                <a:effectLst/>
              </a:rPr>
              <a:t> </a:t>
            </a:r>
            <a:r>
              <a:rPr lang="en-US" sz="1800" dirty="0" err="1">
                <a:solidFill>
                  <a:schemeClr val="tx1"/>
                </a:solidFill>
                <a:effectLst/>
              </a:rPr>
              <a:t>reconeixement</a:t>
            </a:r>
            <a:r>
              <a:rPr lang="en-US" sz="1800" dirty="0">
                <a:solidFill>
                  <a:schemeClr val="tx1"/>
                </a:solidFill>
                <a:effectLst/>
              </a:rPr>
              <a:t> facial. </a:t>
            </a:r>
            <a:endParaRPr lang="en-US" sz="1800" dirty="0">
              <a:solidFill>
                <a:schemeClr val="tx1"/>
              </a:solidFill>
            </a:endParaRPr>
          </a:p>
        </p:txBody>
      </p:sp>
      <p:pic>
        <p:nvPicPr>
          <p:cNvPr id="4" name="Picture 3">
            <a:extLst>
              <a:ext uri="{FF2B5EF4-FFF2-40B4-BE49-F238E27FC236}">
                <a16:creationId xmlns:a16="http://schemas.microsoft.com/office/drawing/2014/main" id="{87D18FC7-88DB-CF85-67FB-0DE31907DF25}"/>
              </a:ext>
            </a:extLst>
          </p:cNvPr>
          <p:cNvPicPr>
            <a:picLocks noChangeAspect="1"/>
          </p:cNvPicPr>
          <p:nvPr/>
        </p:nvPicPr>
        <p:blipFill>
          <a:blip r:embed="rId2"/>
          <a:stretch>
            <a:fillRect/>
          </a:stretch>
        </p:blipFill>
        <p:spPr>
          <a:xfrm>
            <a:off x="7195128" y="3314699"/>
            <a:ext cx="3048000" cy="2628900"/>
          </a:xfrm>
          <a:prstGeom prst="rect">
            <a:avLst/>
          </a:prstGeom>
        </p:spPr>
      </p:pic>
      <p:pic>
        <p:nvPicPr>
          <p:cNvPr id="8" name="Picture 7">
            <a:extLst>
              <a:ext uri="{FF2B5EF4-FFF2-40B4-BE49-F238E27FC236}">
                <a16:creationId xmlns:a16="http://schemas.microsoft.com/office/drawing/2014/main" id="{FF1717AC-3796-A263-EFC1-041B75F65775}"/>
              </a:ext>
            </a:extLst>
          </p:cNvPr>
          <p:cNvPicPr>
            <a:picLocks noChangeAspect="1"/>
          </p:cNvPicPr>
          <p:nvPr/>
        </p:nvPicPr>
        <p:blipFill>
          <a:blip r:embed="rId3"/>
          <a:stretch>
            <a:fillRect/>
          </a:stretch>
        </p:blipFill>
        <p:spPr>
          <a:xfrm>
            <a:off x="1244587" y="4190999"/>
            <a:ext cx="5619750" cy="876300"/>
          </a:xfrm>
          <a:prstGeom prst="rect">
            <a:avLst/>
          </a:prstGeom>
        </p:spPr>
      </p:pic>
    </p:spTree>
    <p:extLst>
      <p:ext uri="{BB962C8B-B14F-4D97-AF65-F5344CB8AC3E}">
        <p14:creationId xmlns:p14="http://schemas.microsoft.com/office/powerpoint/2010/main" val="4203558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0D124-97F9-2565-3619-0CBFC95B1EEA}"/>
              </a:ext>
            </a:extLst>
          </p:cNvPr>
          <p:cNvSpPr>
            <a:spLocks noGrp="1"/>
          </p:cNvSpPr>
          <p:nvPr>
            <p:ph type="title"/>
          </p:nvPr>
        </p:nvSpPr>
        <p:spPr/>
        <p:txBody>
          <a:bodyPr/>
          <a:lstStyle/>
          <a:p>
            <a:r>
              <a:rPr lang="ca-ES" dirty="0"/>
              <a:t>Fiabilitat = Ajustar %</a:t>
            </a:r>
          </a:p>
        </p:txBody>
      </p:sp>
      <p:sp>
        <p:nvSpPr>
          <p:cNvPr id="3" name="Content Placeholder 2">
            <a:extLst>
              <a:ext uri="{FF2B5EF4-FFF2-40B4-BE49-F238E27FC236}">
                <a16:creationId xmlns:a16="http://schemas.microsoft.com/office/drawing/2014/main" id="{89437E9A-DEE5-4BF7-1098-C87FF4B3B67A}"/>
              </a:ext>
            </a:extLst>
          </p:cNvPr>
          <p:cNvSpPr>
            <a:spLocks noGrp="1"/>
          </p:cNvSpPr>
          <p:nvPr>
            <p:ph idx="1"/>
          </p:nvPr>
        </p:nvSpPr>
        <p:spPr/>
        <p:txBody>
          <a:bodyPr/>
          <a:lstStyle/>
          <a:p>
            <a:r>
              <a:rPr lang="ca-ES" sz="1800" dirty="0">
                <a:solidFill>
                  <a:schemeClr val="tx1"/>
                </a:solidFill>
                <a:effectLst/>
                <a:latin typeface="Calibri" panose="020F0502020204030204" pitchFamily="34" charset="0"/>
                <a:ea typeface="MS Mincho" panose="02020609040205080304" pitchFamily="49" charset="-128"/>
              </a:rPr>
              <a:t>Finalment la funció he creat la funció </a:t>
            </a:r>
            <a:r>
              <a:rPr lang="ca-ES" sz="1800" b="1" dirty="0" err="1">
                <a:solidFill>
                  <a:schemeClr val="tx1"/>
                </a:solidFill>
                <a:effectLst/>
                <a:latin typeface="Calibri" panose="020F0502020204030204" pitchFamily="34" charset="0"/>
                <a:ea typeface="MS Mincho" panose="02020609040205080304" pitchFamily="49" charset="-128"/>
              </a:rPr>
              <a:t>reconeixement_facial</a:t>
            </a:r>
            <a:r>
              <a:rPr lang="ca-ES" sz="1800" b="1" dirty="0">
                <a:solidFill>
                  <a:schemeClr val="tx1"/>
                </a:solidFill>
                <a:effectLst/>
                <a:latin typeface="Calibri" panose="020F0502020204030204" pitchFamily="34" charset="0"/>
                <a:ea typeface="MS Mincho" panose="02020609040205080304" pitchFamily="49" charset="-128"/>
              </a:rPr>
              <a:t>(Nick)</a:t>
            </a:r>
            <a:r>
              <a:rPr lang="ca-ES" sz="1800" dirty="0">
                <a:solidFill>
                  <a:schemeClr val="tx1"/>
                </a:solidFill>
                <a:effectLst/>
                <a:latin typeface="Calibri" panose="020F0502020204030204" pitchFamily="34" charset="0"/>
                <a:ea typeface="MS Mincho" panose="02020609040205080304" pitchFamily="49" charset="-128"/>
              </a:rPr>
              <a:t> que rep el Nick de l’usuari. Aquesta funció reconeix la cara de l’usuari i dibuixa un quadrat al seu voltant. Per reconèixer la cara utilitza haarcascade_frontalcatface.xml. La funció utilitza l’algorisme LBPH de cv2 que llegeix el nostre .</a:t>
            </a:r>
            <a:r>
              <a:rPr lang="ca-ES" sz="1800" dirty="0" err="1">
                <a:solidFill>
                  <a:schemeClr val="tx1"/>
                </a:solidFill>
                <a:effectLst/>
                <a:latin typeface="Calibri" panose="020F0502020204030204" pitchFamily="34" charset="0"/>
                <a:ea typeface="MS Mincho" panose="02020609040205080304" pitchFamily="49" charset="-128"/>
              </a:rPr>
              <a:t>yml</a:t>
            </a:r>
            <a:r>
              <a:rPr lang="ca-ES" sz="1800" dirty="0">
                <a:solidFill>
                  <a:schemeClr val="tx1"/>
                </a:solidFill>
                <a:effectLst/>
                <a:latin typeface="Calibri" panose="020F0502020204030204" pitchFamily="34" charset="0"/>
                <a:ea typeface="MS Mincho" panose="02020609040205080304" pitchFamily="49" charset="-128"/>
              </a:rPr>
              <a:t> que hem creat anteriorment. La funció detectarà un una probabilitat de que la cara del usuari sigui una del nostre Dataset. Si la cara coincideix amb el Nick de l’usuari passarà el </a:t>
            </a:r>
            <a:r>
              <a:rPr lang="ca-ES" sz="1800" dirty="0" err="1">
                <a:solidFill>
                  <a:schemeClr val="tx1"/>
                </a:solidFill>
                <a:effectLst/>
                <a:latin typeface="Calibri" panose="020F0502020204030204" pitchFamily="34" charset="0"/>
                <a:ea typeface="MS Mincho" panose="02020609040205080304" pitchFamily="49" charset="-128"/>
              </a:rPr>
              <a:t>login</a:t>
            </a:r>
            <a:r>
              <a:rPr lang="ca-ES" sz="1800" dirty="0">
                <a:solidFill>
                  <a:schemeClr val="tx1"/>
                </a:solidFill>
                <a:effectLst/>
                <a:latin typeface="Calibri" panose="020F0502020204030204" pitchFamily="34" charset="0"/>
                <a:ea typeface="MS Mincho" panose="02020609040205080304" pitchFamily="49" charset="-128"/>
              </a:rPr>
              <a:t>. </a:t>
            </a:r>
            <a:endParaRPr lang="en-US" dirty="0">
              <a:solidFill>
                <a:schemeClr val="tx1"/>
              </a:solidFill>
            </a:endParaRPr>
          </a:p>
        </p:txBody>
      </p:sp>
      <p:pic>
        <p:nvPicPr>
          <p:cNvPr id="4" name="Picture 3">
            <a:extLst>
              <a:ext uri="{FF2B5EF4-FFF2-40B4-BE49-F238E27FC236}">
                <a16:creationId xmlns:a16="http://schemas.microsoft.com/office/drawing/2014/main" id="{C20F8235-E135-B01B-0DB3-9B54639DE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3225" y="3429000"/>
            <a:ext cx="3783089" cy="3031664"/>
          </a:xfrm>
          <a:prstGeom prst="rect">
            <a:avLst/>
          </a:prstGeom>
        </p:spPr>
      </p:pic>
    </p:spTree>
    <p:extLst>
      <p:ext uri="{BB962C8B-B14F-4D97-AF65-F5344CB8AC3E}">
        <p14:creationId xmlns:p14="http://schemas.microsoft.com/office/powerpoint/2010/main" val="173847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0C0E-6F2E-3389-BD37-78343CC673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9C048F-CD41-6BD8-38C2-27ECCCBF48D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2B5B8CC-88CE-72F7-F055-383F46AD7FEC}"/>
              </a:ext>
            </a:extLst>
          </p:cNvPr>
          <p:cNvPicPr>
            <a:picLocks noChangeAspect="1"/>
          </p:cNvPicPr>
          <p:nvPr/>
        </p:nvPicPr>
        <p:blipFill>
          <a:blip r:embed="rId2"/>
          <a:stretch>
            <a:fillRect/>
          </a:stretch>
        </p:blipFill>
        <p:spPr>
          <a:xfrm>
            <a:off x="1897673" y="0"/>
            <a:ext cx="8396654" cy="6858000"/>
          </a:xfrm>
          <a:prstGeom prst="rect">
            <a:avLst/>
          </a:prstGeom>
        </p:spPr>
      </p:pic>
      <p:pic>
        <p:nvPicPr>
          <p:cNvPr id="7" name="Picture 6">
            <a:extLst>
              <a:ext uri="{FF2B5EF4-FFF2-40B4-BE49-F238E27FC236}">
                <a16:creationId xmlns:a16="http://schemas.microsoft.com/office/drawing/2014/main" id="{DA7F5EE2-6337-8E8D-BDB8-AE52D67517A9}"/>
              </a:ext>
            </a:extLst>
          </p:cNvPr>
          <p:cNvPicPr>
            <a:picLocks noChangeAspect="1"/>
          </p:cNvPicPr>
          <p:nvPr/>
        </p:nvPicPr>
        <p:blipFill>
          <a:blip r:embed="rId3"/>
          <a:stretch>
            <a:fillRect/>
          </a:stretch>
        </p:blipFill>
        <p:spPr>
          <a:xfrm>
            <a:off x="-1" y="0"/>
            <a:ext cx="2050473" cy="6858000"/>
          </a:xfrm>
          <a:prstGeom prst="rect">
            <a:avLst/>
          </a:prstGeom>
        </p:spPr>
      </p:pic>
      <p:pic>
        <p:nvPicPr>
          <p:cNvPr id="8" name="Picture 7">
            <a:extLst>
              <a:ext uri="{FF2B5EF4-FFF2-40B4-BE49-F238E27FC236}">
                <a16:creationId xmlns:a16="http://schemas.microsoft.com/office/drawing/2014/main" id="{66159C0B-1DD3-1F56-D4CB-7CA4BDED752F}"/>
              </a:ext>
            </a:extLst>
          </p:cNvPr>
          <p:cNvPicPr>
            <a:picLocks noChangeAspect="1"/>
          </p:cNvPicPr>
          <p:nvPr/>
        </p:nvPicPr>
        <p:blipFill>
          <a:blip r:embed="rId3"/>
          <a:stretch>
            <a:fillRect/>
          </a:stretch>
        </p:blipFill>
        <p:spPr>
          <a:xfrm>
            <a:off x="10294327" y="0"/>
            <a:ext cx="2050473" cy="6858000"/>
          </a:xfrm>
          <a:prstGeom prst="rect">
            <a:avLst/>
          </a:prstGeom>
        </p:spPr>
      </p:pic>
    </p:spTree>
    <p:extLst>
      <p:ext uri="{BB962C8B-B14F-4D97-AF65-F5344CB8AC3E}">
        <p14:creationId xmlns:p14="http://schemas.microsoft.com/office/powerpoint/2010/main" val="96393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0CCA7-FB87-6D3A-C55E-2BD8FCDADE60}"/>
              </a:ext>
            </a:extLst>
          </p:cNvPr>
          <p:cNvSpPr>
            <a:spLocks noGrp="1"/>
          </p:cNvSpPr>
          <p:nvPr>
            <p:ph type="title"/>
          </p:nvPr>
        </p:nvSpPr>
        <p:spPr/>
        <p:txBody>
          <a:bodyPr/>
          <a:lstStyle/>
          <a:p>
            <a:r>
              <a:rPr lang="en-US" dirty="0"/>
              <a:t>GUI INICIAL TKINTER</a:t>
            </a:r>
          </a:p>
        </p:txBody>
      </p:sp>
      <p:pic>
        <p:nvPicPr>
          <p:cNvPr id="5" name="Content Placeholder 4">
            <a:extLst>
              <a:ext uri="{FF2B5EF4-FFF2-40B4-BE49-F238E27FC236}">
                <a16:creationId xmlns:a16="http://schemas.microsoft.com/office/drawing/2014/main" id="{C91F3105-160D-305D-2BA1-8BB138D9CABB}"/>
              </a:ext>
            </a:extLst>
          </p:cNvPr>
          <p:cNvPicPr>
            <a:picLocks noGrp="1" noChangeAspect="1"/>
          </p:cNvPicPr>
          <p:nvPr>
            <p:ph idx="1"/>
          </p:nvPr>
        </p:nvPicPr>
        <p:blipFill>
          <a:blip r:embed="rId2"/>
          <a:stretch>
            <a:fillRect/>
          </a:stretch>
        </p:blipFill>
        <p:spPr>
          <a:xfrm>
            <a:off x="1409856" y="1731963"/>
            <a:ext cx="9362762" cy="4059237"/>
          </a:xfrm>
        </p:spPr>
      </p:pic>
    </p:spTree>
    <p:extLst>
      <p:ext uri="{BB962C8B-B14F-4D97-AF65-F5344CB8AC3E}">
        <p14:creationId xmlns:p14="http://schemas.microsoft.com/office/powerpoint/2010/main" val="1442055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C195F-39B8-280E-D607-BDF7824D6D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2B1821-C526-A078-5C05-88E570BD874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289A06F-8513-B4F2-536D-AF4978F0735A}"/>
              </a:ext>
            </a:extLst>
          </p:cNvPr>
          <p:cNvPicPr>
            <a:picLocks noChangeAspect="1"/>
          </p:cNvPicPr>
          <p:nvPr/>
        </p:nvPicPr>
        <p:blipFill>
          <a:blip r:embed="rId2"/>
          <a:stretch>
            <a:fillRect/>
          </a:stretch>
        </p:blipFill>
        <p:spPr>
          <a:xfrm>
            <a:off x="2294963" y="609600"/>
            <a:ext cx="7591425" cy="5391150"/>
          </a:xfrm>
          <a:prstGeom prst="rect">
            <a:avLst/>
          </a:prstGeom>
        </p:spPr>
      </p:pic>
    </p:spTree>
    <p:extLst>
      <p:ext uri="{BB962C8B-B14F-4D97-AF65-F5344CB8AC3E}">
        <p14:creationId xmlns:p14="http://schemas.microsoft.com/office/powerpoint/2010/main" val="4208480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C195F-39B8-280E-D607-BDF7824D6D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92B1821-C526-A078-5C05-88E570BD874E}"/>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3BB57531-51EB-EC46-AD3F-D126C448E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9391" y="719029"/>
            <a:ext cx="8562281" cy="5360289"/>
          </a:xfrm>
          <a:prstGeom prst="rect">
            <a:avLst/>
          </a:prstGeom>
        </p:spPr>
      </p:pic>
      <p:pic>
        <p:nvPicPr>
          <p:cNvPr id="6" name="Picture 5">
            <a:extLst>
              <a:ext uri="{FF2B5EF4-FFF2-40B4-BE49-F238E27FC236}">
                <a16:creationId xmlns:a16="http://schemas.microsoft.com/office/drawing/2014/main" id="{FC3FF8DB-DA36-8B8D-816A-468983388349}"/>
              </a:ext>
            </a:extLst>
          </p:cNvPr>
          <p:cNvPicPr>
            <a:picLocks noChangeAspect="1"/>
          </p:cNvPicPr>
          <p:nvPr/>
        </p:nvPicPr>
        <p:blipFill>
          <a:blip r:embed="rId3"/>
          <a:stretch>
            <a:fillRect/>
          </a:stretch>
        </p:blipFill>
        <p:spPr>
          <a:xfrm>
            <a:off x="7914555" y="504167"/>
            <a:ext cx="2910059" cy="2151765"/>
          </a:xfrm>
          <a:prstGeom prst="rect">
            <a:avLst/>
          </a:prstGeom>
        </p:spPr>
      </p:pic>
      <p:pic>
        <p:nvPicPr>
          <p:cNvPr id="7" name="Picture 6">
            <a:extLst>
              <a:ext uri="{FF2B5EF4-FFF2-40B4-BE49-F238E27FC236}">
                <a16:creationId xmlns:a16="http://schemas.microsoft.com/office/drawing/2014/main" id="{888A096B-295A-D9A9-A8E7-072AAD8A7440}"/>
              </a:ext>
            </a:extLst>
          </p:cNvPr>
          <p:cNvPicPr>
            <a:picLocks noChangeAspect="1"/>
          </p:cNvPicPr>
          <p:nvPr/>
        </p:nvPicPr>
        <p:blipFill rotWithShape="1">
          <a:blip r:embed="rId4"/>
          <a:srcRect l="9226"/>
          <a:stretch/>
        </p:blipFill>
        <p:spPr>
          <a:xfrm>
            <a:off x="1810327" y="450069"/>
            <a:ext cx="6104227" cy="657225"/>
          </a:xfrm>
          <a:prstGeom prst="rect">
            <a:avLst/>
          </a:prstGeom>
        </p:spPr>
      </p:pic>
    </p:spTree>
    <p:extLst>
      <p:ext uri="{BB962C8B-B14F-4D97-AF65-F5344CB8AC3E}">
        <p14:creationId xmlns:p14="http://schemas.microsoft.com/office/powerpoint/2010/main" val="1709735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CC5179-AECD-35E0-300A-135DF6D81C3A}"/>
              </a:ext>
            </a:extLst>
          </p:cNvPr>
          <p:cNvPicPr>
            <a:picLocks noChangeAspect="1"/>
          </p:cNvPicPr>
          <p:nvPr/>
        </p:nvPicPr>
        <p:blipFill>
          <a:blip r:embed="rId2"/>
          <a:stretch>
            <a:fillRect/>
          </a:stretch>
        </p:blipFill>
        <p:spPr>
          <a:xfrm>
            <a:off x="0" y="1"/>
            <a:ext cx="12192000" cy="6954982"/>
          </a:xfrm>
          <a:prstGeom prst="rect">
            <a:avLst/>
          </a:prstGeom>
        </p:spPr>
      </p:pic>
    </p:spTree>
    <p:extLst>
      <p:ext uri="{BB962C8B-B14F-4D97-AF65-F5344CB8AC3E}">
        <p14:creationId xmlns:p14="http://schemas.microsoft.com/office/powerpoint/2010/main" val="2579778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BBFEE-D1AA-ABAB-D9D0-E702ABCFFD09}"/>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B9C75F04-E742-AB60-1BA2-3BFA2F0A32AC}"/>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9522F447-A12D-6A9E-F938-4EEB8C1C9E49}"/>
              </a:ext>
            </a:extLst>
          </p:cNvPr>
          <p:cNvPicPr>
            <a:picLocks noChangeAspect="1"/>
          </p:cNvPicPr>
          <p:nvPr/>
        </p:nvPicPr>
        <p:blipFill>
          <a:blip r:embed="rId2"/>
          <a:stretch>
            <a:fillRect/>
          </a:stretch>
        </p:blipFill>
        <p:spPr>
          <a:xfrm>
            <a:off x="913795" y="483559"/>
            <a:ext cx="10511587" cy="5974534"/>
          </a:xfrm>
          <a:prstGeom prst="rect">
            <a:avLst/>
          </a:prstGeom>
        </p:spPr>
      </p:pic>
    </p:spTree>
    <p:extLst>
      <p:ext uri="{BB962C8B-B14F-4D97-AF65-F5344CB8AC3E}">
        <p14:creationId xmlns:p14="http://schemas.microsoft.com/office/powerpoint/2010/main" val="3909793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9A3E-9BE9-82AC-A774-E9E4579E55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972FA0-A7BE-DD9C-D5A3-AC5FC58B537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50BEFC4-22A1-223F-2626-513FCD054FFA}"/>
              </a:ext>
            </a:extLst>
          </p:cNvPr>
          <p:cNvPicPr>
            <a:picLocks noChangeAspect="1"/>
          </p:cNvPicPr>
          <p:nvPr/>
        </p:nvPicPr>
        <p:blipFill>
          <a:blip r:embed="rId2"/>
          <a:stretch>
            <a:fillRect/>
          </a:stretch>
        </p:blipFill>
        <p:spPr>
          <a:xfrm>
            <a:off x="598265" y="690769"/>
            <a:ext cx="10984822" cy="5100431"/>
          </a:xfrm>
          <a:prstGeom prst="rect">
            <a:avLst/>
          </a:prstGeom>
        </p:spPr>
      </p:pic>
    </p:spTree>
    <p:extLst>
      <p:ext uri="{BB962C8B-B14F-4D97-AF65-F5344CB8AC3E}">
        <p14:creationId xmlns:p14="http://schemas.microsoft.com/office/powerpoint/2010/main" val="4145221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CE7A8-9938-ECF2-AA92-17A82E783A0A}"/>
              </a:ext>
            </a:extLst>
          </p:cNvPr>
          <p:cNvSpPr>
            <a:spLocks noGrp="1"/>
          </p:cNvSpPr>
          <p:nvPr>
            <p:ph type="title"/>
          </p:nvPr>
        </p:nvSpPr>
        <p:spPr/>
        <p:txBody>
          <a:bodyPr/>
          <a:lstStyle/>
          <a:p>
            <a:pPr algn="l"/>
            <a:r>
              <a:rPr lang="ca-ES" sz="1800" dirty="0">
                <a:effectLst/>
                <a:latin typeface="Calibri" panose="020F0502020204030204" pitchFamily="34" charset="0"/>
                <a:ea typeface="MS Mincho" panose="02020609040205080304" pitchFamily="49" charset="-128"/>
              </a:rPr>
              <a:t>Una vegada estem jugant una partida primerament crearem una partida i seguidament generarem els Moviments que seran emmagatzemats en una Partida (Imatge part esquerre) </a:t>
            </a:r>
            <a:endParaRPr lang="en-US" dirty="0"/>
          </a:p>
        </p:txBody>
      </p:sp>
      <p:pic>
        <p:nvPicPr>
          <p:cNvPr id="4" name="Picture 3">
            <a:extLst>
              <a:ext uri="{FF2B5EF4-FFF2-40B4-BE49-F238E27FC236}">
                <a16:creationId xmlns:a16="http://schemas.microsoft.com/office/drawing/2014/main" id="{F86A2483-6E12-0BD4-82B2-00CD84E0FD11}"/>
              </a:ext>
            </a:extLst>
          </p:cNvPr>
          <p:cNvPicPr>
            <a:picLocks noChangeAspect="1"/>
          </p:cNvPicPr>
          <p:nvPr/>
        </p:nvPicPr>
        <p:blipFill>
          <a:blip r:embed="rId2"/>
          <a:stretch>
            <a:fillRect/>
          </a:stretch>
        </p:blipFill>
        <p:spPr>
          <a:xfrm>
            <a:off x="2281830" y="1677031"/>
            <a:ext cx="7617691" cy="4834304"/>
          </a:xfrm>
          <a:prstGeom prst="rect">
            <a:avLst/>
          </a:prstGeom>
        </p:spPr>
      </p:pic>
      <p:pic>
        <p:nvPicPr>
          <p:cNvPr id="5" name="Picture 4">
            <a:extLst>
              <a:ext uri="{FF2B5EF4-FFF2-40B4-BE49-F238E27FC236}">
                <a16:creationId xmlns:a16="http://schemas.microsoft.com/office/drawing/2014/main" id="{E787DFF5-FF3B-2D24-5FD6-846722B2650A}"/>
              </a:ext>
            </a:extLst>
          </p:cNvPr>
          <p:cNvPicPr>
            <a:picLocks noChangeAspect="1"/>
          </p:cNvPicPr>
          <p:nvPr/>
        </p:nvPicPr>
        <p:blipFill rotWithShape="1">
          <a:blip r:embed="rId3"/>
          <a:srcRect r="41946"/>
          <a:stretch/>
        </p:blipFill>
        <p:spPr>
          <a:xfrm>
            <a:off x="6449033" y="1677031"/>
            <a:ext cx="3450488" cy="1170305"/>
          </a:xfrm>
          <a:prstGeom prst="rect">
            <a:avLst/>
          </a:prstGeom>
        </p:spPr>
      </p:pic>
    </p:spTree>
    <p:extLst>
      <p:ext uri="{BB962C8B-B14F-4D97-AF65-F5344CB8AC3E}">
        <p14:creationId xmlns:p14="http://schemas.microsoft.com/office/powerpoint/2010/main" val="1693764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A3BC-5266-B91F-10A3-40E5F214315C}"/>
              </a:ext>
            </a:extLst>
          </p:cNvPr>
          <p:cNvSpPr>
            <a:spLocks noGrp="1"/>
          </p:cNvSpPr>
          <p:nvPr>
            <p:ph type="title"/>
          </p:nvPr>
        </p:nvSpPr>
        <p:spPr/>
        <p:txBody>
          <a:bodyPr/>
          <a:lstStyle/>
          <a:p>
            <a:pPr algn="l"/>
            <a:r>
              <a:rPr lang="ca-ES" sz="1800" dirty="0">
                <a:effectLst/>
                <a:latin typeface="Calibri" panose="020F0502020204030204" pitchFamily="34" charset="0"/>
                <a:ea typeface="MS Mincho" panose="02020609040205080304" pitchFamily="49" charset="-128"/>
              </a:rPr>
              <a:t>Una vegada finalitzada la partida, la partida en si mateixa l'enviarem al servidor </a:t>
            </a:r>
            <a:r>
              <a:rPr lang="ca-ES" sz="1800" dirty="0" err="1">
                <a:effectLst/>
                <a:latin typeface="Calibri" panose="020F0502020204030204" pitchFamily="34" charset="0"/>
                <a:ea typeface="MS Mincho" panose="02020609040205080304" pitchFamily="49" charset="-128"/>
              </a:rPr>
              <a:t>Andromeda</a:t>
            </a:r>
            <a:r>
              <a:rPr lang="ca-ES" sz="1800" dirty="0">
                <a:effectLst/>
                <a:latin typeface="Calibri" panose="020F0502020204030204" pitchFamily="34" charset="0"/>
                <a:ea typeface="MS Mincho" panose="02020609040205080304" pitchFamily="49" charset="-128"/>
              </a:rPr>
              <a:t> de la universitat d'Andorra a la DB </a:t>
            </a:r>
            <a:r>
              <a:rPr lang="ca-ES" sz="1800" dirty="0" err="1">
                <a:effectLst/>
                <a:latin typeface="Calibri" panose="020F0502020204030204" pitchFamily="34" charset="0"/>
                <a:ea typeface="MS Mincho" panose="02020609040205080304" pitchFamily="49" charset="-128"/>
              </a:rPr>
              <a:t>tericttest</a:t>
            </a:r>
            <a:r>
              <a:rPr lang="ca-ES" sz="1800" dirty="0">
                <a:effectLst/>
                <a:latin typeface="Calibri" panose="020F0502020204030204" pitchFamily="34" charset="0"/>
                <a:ea typeface="MS Mincho" panose="02020609040205080304" pitchFamily="49" charset="-128"/>
              </a:rPr>
              <a:t>.</a:t>
            </a:r>
            <a:endParaRPr lang="en-US" dirty="0"/>
          </a:p>
        </p:txBody>
      </p:sp>
      <p:sp>
        <p:nvSpPr>
          <p:cNvPr id="3" name="Content Placeholder 2">
            <a:extLst>
              <a:ext uri="{FF2B5EF4-FFF2-40B4-BE49-F238E27FC236}">
                <a16:creationId xmlns:a16="http://schemas.microsoft.com/office/drawing/2014/main" id="{41EB2717-45D7-93C4-CC0A-6D9AE74EF32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FA6F8A2-DC20-0BA7-EBF1-1404D6E716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6004" y="1580050"/>
            <a:ext cx="8189344" cy="4829613"/>
          </a:xfrm>
          <a:prstGeom prst="rect">
            <a:avLst/>
          </a:prstGeom>
          <a:noFill/>
          <a:ln>
            <a:noFill/>
          </a:ln>
        </p:spPr>
      </p:pic>
    </p:spTree>
    <p:extLst>
      <p:ext uri="{BB962C8B-B14F-4D97-AF65-F5344CB8AC3E}">
        <p14:creationId xmlns:p14="http://schemas.microsoft.com/office/powerpoint/2010/main" val="174429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2A61F8B-7898-2ED6-58C5-F38387AC726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2905" y="1206602"/>
            <a:ext cx="9198137" cy="2339048"/>
          </a:xfrm>
          <a:prstGeom prst="rect">
            <a:avLst/>
          </a:prstGeom>
          <a:noFill/>
          <a:ln>
            <a:noFill/>
          </a:ln>
        </p:spPr>
      </p:pic>
      <p:pic>
        <p:nvPicPr>
          <p:cNvPr id="5" name="Picture 4">
            <a:extLst>
              <a:ext uri="{FF2B5EF4-FFF2-40B4-BE49-F238E27FC236}">
                <a16:creationId xmlns:a16="http://schemas.microsoft.com/office/drawing/2014/main" id="{45F5E26D-7639-7CE0-0BED-F7F8AA9B38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3554" y="3545650"/>
            <a:ext cx="9187488" cy="2642384"/>
          </a:xfrm>
          <a:prstGeom prst="rect">
            <a:avLst/>
          </a:prstGeom>
        </p:spPr>
      </p:pic>
    </p:spTree>
    <p:extLst>
      <p:ext uri="{BB962C8B-B14F-4D97-AF65-F5344CB8AC3E}">
        <p14:creationId xmlns:p14="http://schemas.microsoft.com/office/powerpoint/2010/main" val="1421483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97AFD-04AA-7BF0-5FC3-ECD33A638BC9}"/>
              </a:ext>
            </a:extLst>
          </p:cNvPr>
          <p:cNvSpPr>
            <a:spLocks noGrp="1"/>
          </p:cNvSpPr>
          <p:nvPr>
            <p:ph type="title"/>
          </p:nvPr>
        </p:nvSpPr>
        <p:spPr/>
        <p:txBody>
          <a:bodyPr/>
          <a:lstStyle/>
          <a:p>
            <a:r>
              <a:rPr lang="ca-ES" dirty="0"/>
              <a:t>Històric de moviments</a:t>
            </a:r>
          </a:p>
        </p:txBody>
      </p:sp>
      <p:pic>
        <p:nvPicPr>
          <p:cNvPr id="4" name="Picture 3">
            <a:extLst>
              <a:ext uri="{FF2B5EF4-FFF2-40B4-BE49-F238E27FC236}">
                <a16:creationId xmlns:a16="http://schemas.microsoft.com/office/drawing/2014/main" id="{BE1CFFB4-9D3F-2868-627B-2F9FCA2DA7B7}"/>
              </a:ext>
            </a:extLst>
          </p:cNvPr>
          <p:cNvPicPr>
            <a:picLocks noChangeAspect="1"/>
          </p:cNvPicPr>
          <p:nvPr/>
        </p:nvPicPr>
        <p:blipFill rotWithShape="1">
          <a:blip r:embed="rId2">
            <a:extLst>
              <a:ext uri="{28A0092B-C50C-407E-A947-70E740481C1C}">
                <a14:useLocalDpi xmlns:a14="http://schemas.microsoft.com/office/drawing/2010/main" val="0"/>
              </a:ext>
            </a:extLst>
          </a:blip>
          <a:srcRect t="30956"/>
          <a:stretch/>
        </p:blipFill>
        <p:spPr bwMode="auto">
          <a:xfrm>
            <a:off x="5976733" y="1639703"/>
            <a:ext cx="5938175" cy="4244242"/>
          </a:xfrm>
          <a:prstGeom prst="rect">
            <a:avLst/>
          </a:prstGeom>
          <a:ln>
            <a:noFill/>
          </a:ln>
          <a:extLst>
            <a:ext uri="{53640926-AAD7-44D8-BBD7-CCE9431645EC}">
              <a14:shadowObscured xmlns:a14="http://schemas.microsoft.com/office/drawing/2010/main"/>
            </a:ext>
          </a:extLst>
        </p:spPr>
      </p:pic>
      <p:pic>
        <p:nvPicPr>
          <p:cNvPr id="5" name="Content Placeholder 4">
            <a:extLst>
              <a:ext uri="{FF2B5EF4-FFF2-40B4-BE49-F238E27FC236}">
                <a16:creationId xmlns:a16="http://schemas.microsoft.com/office/drawing/2014/main" id="{517B9CBB-4A47-1CA0-A73C-DEF8D490E0C0}"/>
              </a:ext>
            </a:extLst>
          </p:cNvPr>
          <p:cNvPicPr>
            <a:picLocks noGrp="1" noChangeAspect="1"/>
          </p:cNvPicPr>
          <p:nvPr>
            <p:ph idx="1"/>
          </p:nvPr>
        </p:nvPicPr>
        <p:blipFill>
          <a:blip r:embed="rId3"/>
          <a:stretch>
            <a:fillRect/>
          </a:stretch>
        </p:blipFill>
        <p:spPr>
          <a:xfrm>
            <a:off x="603146" y="1639703"/>
            <a:ext cx="5373587" cy="4059237"/>
          </a:xfrm>
          <a:prstGeom prst="rect">
            <a:avLst/>
          </a:prstGeom>
        </p:spPr>
      </p:pic>
    </p:spTree>
    <p:extLst>
      <p:ext uri="{BB962C8B-B14F-4D97-AF65-F5344CB8AC3E}">
        <p14:creationId xmlns:p14="http://schemas.microsoft.com/office/powerpoint/2010/main" val="782452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29FE-811D-4B8F-C2A4-A115ECC53658}"/>
              </a:ext>
            </a:extLst>
          </p:cNvPr>
          <p:cNvSpPr>
            <a:spLocks noGrp="1"/>
          </p:cNvSpPr>
          <p:nvPr>
            <p:ph type="title"/>
          </p:nvPr>
        </p:nvSpPr>
        <p:spPr/>
        <p:txBody>
          <a:bodyPr>
            <a:normAutofit/>
          </a:bodyPr>
          <a:lstStyle/>
          <a:p>
            <a:r>
              <a:rPr lang="ca-ES" sz="1800" dirty="0">
                <a:effectLst/>
                <a:latin typeface="Calibri" panose="020F0502020204030204" pitchFamily="34" charset="0"/>
                <a:ea typeface="MS Mincho" panose="02020609040205080304" pitchFamily="49" charset="-128"/>
              </a:rPr>
              <a:t>Si pressionem la opció 7, posem veure un llistat de les 10 millors partides.</a:t>
            </a:r>
            <a:br>
              <a:rPr lang="ca-ES" sz="1800" dirty="0">
                <a:effectLst/>
                <a:latin typeface="Calibri" panose="020F0502020204030204" pitchFamily="34" charset="0"/>
                <a:ea typeface="MS Mincho" panose="02020609040205080304" pitchFamily="49" charset="-128"/>
              </a:rPr>
            </a:br>
            <a:r>
              <a:rPr lang="ca-ES" sz="1800" dirty="0">
                <a:effectLst/>
                <a:latin typeface="Calibri" panose="020F0502020204030204" pitchFamily="34" charset="0"/>
                <a:ea typeface="MS Mincho" panose="02020609040205080304" pitchFamily="49" charset="-128"/>
              </a:rPr>
              <a:t>Si pressionem la opció 8 podem veure un TOP 10 dels millors jugadors</a:t>
            </a:r>
            <a:endParaRPr lang="en-US" dirty="0"/>
          </a:p>
        </p:txBody>
      </p:sp>
      <p:sp>
        <p:nvSpPr>
          <p:cNvPr id="3" name="Content Placeholder 2">
            <a:extLst>
              <a:ext uri="{FF2B5EF4-FFF2-40B4-BE49-F238E27FC236}">
                <a16:creationId xmlns:a16="http://schemas.microsoft.com/office/drawing/2014/main" id="{A55A6C3D-4C95-8133-1BA2-E4D46D0A4D05}"/>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85E5368B-5BF5-4B11-2FA0-5C7B617D2852}"/>
              </a:ext>
            </a:extLst>
          </p:cNvPr>
          <p:cNvPicPr>
            <a:picLocks noChangeAspect="1"/>
          </p:cNvPicPr>
          <p:nvPr/>
        </p:nvPicPr>
        <p:blipFill>
          <a:blip r:embed="rId2"/>
          <a:stretch>
            <a:fillRect/>
          </a:stretch>
        </p:blipFill>
        <p:spPr>
          <a:xfrm>
            <a:off x="1136073" y="1732449"/>
            <a:ext cx="7951747" cy="3461049"/>
          </a:xfrm>
          <a:prstGeom prst="rect">
            <a:avLst/>
          </a:prstGeom>
        </p:spPr>
      </p:pic>
      <p:pic>
        <p:nvPicPr>
          <p:cNvPr id="5" name="Picture 4">
            <a:extLst>
              <a:ext uri="{FF2B5EF4-FFF2-40B4-BE49-F238E27FC236}">
                <a16:creationId xmlns:a16="http://schemas.microsoft.com/office/drawing/2014/main" id="{2C825535-5511-3789-BE5B-8EF3D197D8B8}"/>
              </a:ext>
            </a:extLst>
          </p:cNvPr>
          <p:cNvPicPr>
            <a:picLocks noChangeAspect="1"/>
          </p:cNvPicPr>
          <p:nvPr/>
        </p:nvPicPr>
        <p:blipFill>
          <a:blip r:embed="rId3"/>
          <a:stretch>
            <a:fillRect/>
          </a:stretch>
        </p:blipFill>
        <p:spPr>
          <a:xfrm>
            <a:off x="5516418" y="4587798"/>
            <a:ext cx="5943600" cy="1671955"/>
          </a:xfrm>
          <a:prstGeom prst="rect">
            <a:avLst/>
          </a:prstGeom>
        </p:spPr>
      </p:pic>
    </p:spTree>
    <p:extLst>
      <p:ext uri="{BB962C8B-B14F-4D97-AF65-F5344CB8AC3E}">
        <p14:creationId xmlns:p14="http://schemas.microsoft.com/office/powerpoint/2010/main" val="3878334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E01-3292-1FF9-567A-2D7FC6DC59C8}"/>
              </a:ext>
            </a:extLst>
          </p:cNvPr>
          <p:cNvSpPr>
            <a:spLocks noGrp="1"/>
          </p:cNvSpPr>
          <p:nvPr>
            <p:ph type="title"/>
          </p:nvPr>
        </p:nvSpPr>
        <p:spPr/>
        <p:txBody>
          <a:bodyPr>
            <a:normAutofit fontScale="90000"/>
          </a:bodyPr>
          <a:lstStyle/>
          <a:p>
            <a:r>
              <a:rPr lang="ca-ES" sz="4000" b="1" dirty="0">
                <a:effectLst/>
                <a:latin typeface="Arial" panose="020B0604020202020204" pitchFamily="34" charset="0"/>
                <a:ea typeface="MS Mincho" panose="02020609040205080304" pitchFamily="49" charset="-128"/>
                <a:cs typeface="Times New Roman" panose="02020603050405020304" pitchFamily="18" charset="0"/>
              </a:rPr>
              <a:t>Solucions recursives</a:t>
            </a:r>
            <a:br>
              <a:rPr lang="en-US" sz="4000" dirty="0">
                <a:effectLst/>
                <a:latin typeface="Calibri" panose="020F0502020204030204" pitchFamily="34" charset="0"/>
                <a:ea typeface="MS Mincho" panose="02020609040205080304" pitchFamily="49" charset="-128"/>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490A5C7-8008-D998-813B-9FFF5E5A04C6}"/>
              </a:ext>
            </a:extLst>
          </p:cNvPr>
          <p:cNvSpPr>
            <a:spLocks noGrp="1"/>
          </p:cNvSpPr>
          <p:nvPr>
            <p:ph idx="1"/>
          </p:nvPr>
        </p:nvSpPr>
        <p:spPr/>
        <p:txBody>
          <a:bodyPr/>
          <a:lstStyle/>
          <a:p>
            <a:pPr marL="36900" indent="0">
              <a:buNone/>
            </a:pPr>
            <a:r>
              <a:rPr lang="ca-ES" sz="1800" dirty="0">
                <a:effectLst/>
                <a:latin typeface="Calibri" panose="020F0502020204030204" pitchFamily="34" charset="0"/>
                <a:ea typeface="MS Mincho" panose="02020609040205080304" pitchFamily="49" charset="-128"/>
              </a:rPr>
              <a:t>Per tal de crear la matriu </a:t>
            </a:r>
            <a:r>
              <a:rPr lang="ca-ES" sz="1800" i="1" dirty="0">
                <a:effectLst/>
                <a:latin typeface="Calibri" panose="020F0502020204030204" pitchFamily="34" charset="0"/>
                <a:ea typeface="MS Mincho" panose="02020609040205080304" pitchFamily="49" charset="-128"/>
              </a:rPr>
              <a:t>“</a:t>
            </a:r>
            <a:r>
              <a:rPr lang="ca-ES" sz="1800" i="1" dirty="0" err="1">
                <a:effectLst/>
                <a:latin typeface="Calibri" panose="020F0502020204030204" pitchFamily="34" charset="0"/>
                <a:ea typeface="MS Mincho" panose="02020609040205080304" pitchFamily="49" charset="-128"/>
              </a:rPr>
              <a:t>heatmap</a:t>
            </a:r>
            <a:r>
              <a:rPr lang="ca-ES" sz="1800" i="1" dirty="0">
                <a:effectLst/>
                <a:latin typeface="Calibri" panose="020F0502020204030204" pitchFamily="34" charset="0"/>
                <a:ea typeface="MS Mincho" panose="02020609040205080304" pitchFamily="49" charset="-128"/>
              </a:rPr>
              <a:t>”</a:t>
            </a:r>
            <a:r>
              <a:rPr lang="ca-ES" sz="1800" dirty="0">
                <a:effectLst/>
                <a:latin typeface="Calibri" panose="020F0502020204030204" pitchFamily="34" charset="0"/>
                <a:ea typeface="MS Mincho" panose="02020609040205080304" pitchFamily="49" charset="-128"/>
              </a:rPr>
              <a:t> que utilitzarà la nostra heurística del joc, hem creat un algorisme recursiu que de forma elegant i eficient realitza un recorregut per tota la matriu en espiral (</a:t>
            </a:r>
            <a:r>
              <a:rPr lang="ca-ES" sz="1800" i="1" dirty="0">
                <a:effectLst/>
                <a:latin typeface="Calibri" panose="020F0502020204030204" pitchFamily="34" charset="0"/>
                <a:ea typeface="MS Mincho" panose="02020609040205080304" pitchFamily="49" charset="-128"/>
              </a:rPr>
              <a:t>La matriu pot ser un rectangle) que</a:t>
            </a:r>
            <a:r>
              <a:rPr lang="ca-ES" sz="1800" dirty="0">
                <a:effectLst/>
                <a:latin typeface="Calibri" panose="020F0502020204030204" pitchFamily="34" charset="0"/>
                <a:ea typeface="MS Mincho" panose="02020609040205080304" pitchFamily="49" charset="-128"/>
              </a:rPr>
              <a:t> insereix valors més elevats en funció de la profunditat. El pseudocodi que hem emparat per recrear un "</a:t>
            </a:r>
            <a:r>
              <a:rPr lang="ca-ES" sz="1800" dirty="0" err="1">
                <a:effectLst/>
                <a:latin typeface="Calibri" panose="020F0502020204030204" pitchFamily="34" charset="0"/>
                <a:ea typeface="MS Mincho" panose="02020609040205080304" pitchFamily="49" charset="-128"/>
              </a:rPr>
              <a:t>heatmap</a:t>
            </a:r>
            <a:r>
              <a:rPr lang="ca-ES" sz="1800" dirty="0">
                <a:effectLst/>
                <a:latin typeface="Calibri" panose="020F0502020204030204" pitchFamily="34" charset="0"/>
                <a:ea typeface="MS Mincho" panose="02020609040205080304" pitchFamily="49" charset="-128"/>
              </a:rPr>
              <a:t>” és el següent:</a:t>
            </a:r>
            <a:endParaRPr lang="en-US" dirty="0"/>
          </a:p>
        </p:txBody>
      </p:sp>
      <p:pic>
        <p:nvPicPr>
          <p:cNvPr id="4" name="Picture 3">
            <a:extLst>
              <a:ext uri="{FF2B5EF4-FFF2-40B4-BE49-F238E27FC236}">
                <a16:creationId xmlns:a16="http://schemas.microsoft.com/office/drawing/2014/main" id="{8D196539-3A8C-EA00-2B4C-51E64ACE16D7}"/>
              </a:ext>
            </a:extLst>
          </p:cNvPr>
          <p:cNvPicPr>
            <a:picLocks noChangeAspect="1"/>
          </p:cNvPicPr>
          <p:nvPr/>
        </p:nvPicPr>
        <p:blipFill rotWithShape="1">
          <a:blip r:embed="rId2">
            <a:extLst>
              <a:ext uri="{28A0092B-C50C-407E-A947-70E740481C1C}">
                <a14:useLocalDpi xmlns:a14="http://schemas.microsoft.com/office/drawing/2010/main" val="0"/>
              </a:ext>
            </a:extLst>
          </a:blip>
          <a:srcRect t="29551" r="9912" b="40799"/>
          <a:stretch/>
        </p:blipFill>
        <p:spPr bwMode="auto">
          <a:xfrm>
            <a:off x="5358533" y="2993396"/>
            <a:ext cx="5817467" cy="334736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96383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379876-D599-5854-E92E-AFA6905174BD}"/>
              </a:ext>
            </a:extLst>
          </p:cNvPr>
          <p:cNvPicPr>
            <a:picLocks noChangeAspect="1"/>
          </p:cNvPicPr>
          <p:nvPr/>
        </p:nvPicPr>
        <p:blipFill>
          <a:blip r:embed="rId2"/>
          <a:stretch>
            <a:fillRect/>
          </a:stretch>
        </p:blipFill>
        <p:spPr>
          <a:xfrm>
            <a:off x="913795" y="979055"/>
            <a:ext cx="3582065" cy="4802620"/>
          </a:xfrm>
          <a:prstGeom prst="rect">
            <a:avLst/>
          </a:prstGeom>
        </p:spPr>
      </p:pic>
      <p:pic>
        <p:nvPicPr>
          <p:cNvPr id="7" name="Picture 6">
            <a:extLst>
              <a:ext uri="{FF2B5EF4-FFF2-40B4-BE49-F238E27FC236}">
                <a16:creationId xmlns:a16="http://schemas.microsoft.com/office/drawing/2014/main" id="{ABD7E1CC-6E89-9736-F7DC-F20CA5B5006B}"/>
              </a:ext>
            </a:extLst>
          </p:cNvPr>
          <p:cNvPicPr>
            <a:picLocks noChangeAspect="1"/>
          </p:cNvPicPr>
          <p:nvPr/>
        </p:nvPicPr>
        <p:blipFill>
          <a:blip r:embed="rId3"/>
          <a:stretch>
            <a:fillRect/>
          </a:stretch>
        </p:blipFill>
        <p:spPr>
          <a:xfrm>
            <a:off x="874048" y="5791200"/>
            <a:ext cx="10448925" cy="590550"/>
          </a:xfrm>
          <a:prstGeom prst="rect">
            <a:avLst/>
          </a:prstGeom>
        </p:spPr>
      </p:pic>
      <p:pic>
        <p:nvPicPr>
          <p:cNvPr id="9" name="Picture 8">
            <a:extLst>
              <a:ext uri="{FF2B5EF4-FFF2-40B4-BE49-F238E27FC236}">
                <a16:creationId xmlns:a16="http://schemas.microsoft.com/office/drawing/2014/main" id="{C69EF437-8C6E-76C0-D63D-8669840E78EB}"/>
              </a:ext>
            </a:extLst>
          </p:cNvPr>
          <p:cNvPicPr>
            <a:picLocks noChangeAspect="1"/>
          </p:cNvPicPr>
          <p:nvPr/>
        </p:nvPicPr>
        <p:blipFill>
          <a:blip r:embed="rId4"/>
          <a:stretch>
            <a:fillRect/>
          </a:stretch>
        </p:blipFill>
        <p:spPr>
          <a:xfrm>
            <a:off x="913795" y="369455"/>
            <a:ext cx="8191500" cy="609600"/>
          </a:xfrm>
          <a:prstGeom prst="rect">
            <a:avLst/>
          </a:prstGeom>
        </p:spPr>
      </p:pic>
      <p:pic>
        <p:nvPicPr>
          <p:cNvPr id="10" name="Picture 9">
            <a:extLst>
              <a:ext uri="{FF2B5EF4-FFF2-40B4-BE49-F238E27FC236}">
                <a16:creationId xmlns:a16="http://schemas.microsoft.com/office/drawing/2014/main" id="{28A8D6BC-8E45-4388-E3D6-8B7527274BD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83037" y="1463498"/>
            <a:ext cx="6973858" cy="3664272"/>
          </a:xfrm>
          <a:prstGeom prst="rect">
            <a:avLst/>
          </a:prstGeom>
        </p:spPr>
      </p:pic>
    </p:spTree>
    <p:extLst>
      <p:ext uri="{BB962C8B-B14F-4D97-AF65-F5344CB8AC3E}">
        <p14:creationId xmlns:p14="http://schemas.microsoft.com/office/powerpoint/2010/main" val="1461466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8BD9-10E3-26D7-86AE-4DC6A8C115CA}"/>
              </a:ext>
            </a:extLst>
          </p:cNvPr>
          <p:cNvSpPr>
            <a:spLocks noGrp="1"/>
          </p:cNvSpPr>
          <p:nvPr>
            <p:ph type="title"/>
          </p:nvPr>
        </p:nvSpPr>
        <p:spPr/>
        <p:txBody>
          <a:bodyPr/>
          <a:lstStyle/>
          <a:p>
            <a:r>
              <a:rPr lang="ca-ES" dirty="0"/>
              <a:t>Heurística proposada: </a:t>
            </a:r>
            <a:r>
              <a:rPr lang="ca-ES" dirty="0" err="1"/>
              <a:t>Heatmap</a:t>
            </a:r>
            <a:r>
              <a:rPr lang="ca-ES" dirty="0"/>
              <a:t> + torn</a:t>
            </a:r>
          </a:p>
        </p:txBody>
      </p:sp>
      <p:sp>
        <p:nvSpPr>
          <p:cNvPr id="3" name="Content Placeholder 2">
            <a:extLst>
              <a:ext uri="{FF2B5EF4-FFF2-40B4-BE49-F238E27FC236}">
                <a16:creationId xmlns:a16="http://schemas.microsoft.com/office/drawing/2014/main" id="{C6BAAD93-A22E-EC48-AE46-15EE9EA40D85}"/>
              </a:ext>
            </a:extLst>
          </p:cNvPr>
          <p:cNvSpPr>
            <a:spLocks noGrp="1"/>
          </p:cNvSpPr>
          <p:nvPr>
            <p:ph idx="1"/>
          </p:nvPr>
        </p:nvSpPr>
        <p:spPr/>
        <p:txBody>
          <a:bodyPr/>
          <a:lstStyle/>
          <a:p>
            <a:r>
              <a:rPr lang="ca-ES" sz="1800" dirty="0">
                <a:effectLst/>
                <a:latin typeface="Calibri" panose="020F0502020204030204" pitchFamily="34" charset="0"/>
                <a:ea typeface="MS Mincho" panose="02020609040205080304" pitchFamily="49" charset="-128"/>
                <a:cs typeface="Calibri" panose="020F0502020204030204" pitchFamily="34" charset="0"/>
              </a:rPr>
              <a:t>El que farà el nostre algoritme serà calcular el nombre de punts de cada jugador en relació al “</a:t>
            </a:r>
            <a:r>
              <a:rPr lang="ca-ES" sz="1800" dirty="0" err="1">
                <a:effectLst/>
                <a:latin typeface="Calibri" panose="020F0502020204030204" pitchFamily="34" charset="0"/>
                <a:ea typeface="MS Mincho" panose="02020609040205080304" pitchFamily="49" charset="-128"/>
                <a:cs typeface="Calibri" panose="020F0502020204030204" pitchFamily="34" charset="0"/>
              </a:rPr>
              <a:t>heatmap</a:t>
            </a:r>
            <a:r>
              <a:rPr lang="ca-ES" sz="1800" dirty="0">
                <a:effectLst/>
                <a:latin typeface="Calibri" panose="020F0502020204030204" pitchFamily="34" charset="0"/>
                <a:ea typeface="MS Mincho" panose="02020609040205080304" pitchFamily="49" charset="-128"/>
                <a:cs typeface="Calibri" panose="020F0502020204030204" pitchFamily="34" charset="0"/>
              </a:rPr>
              <a:t>”. Si IA té un nombre de punts superior a PLAYER retornarà (+1). Altrament si PLAYER té un nombre de punts superior a IA retornarà (-1). Finalment si IA i PLAYER tenen el mateix nombre de punts, retornarà un valor en funció del risc. Retornarà (+1) si el següent en jugar és IA i (-1) si el següent en jugar és PLAYER.</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8E5832EA-E695-5CA8-D7B4-F87C1DABE1D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6634" t="50000" r="-58"/>
          <a:stretch/>
        </p:blipFill>
        <p:spPr>
          <a:xfrm>
            <a:off x="2946400" y="3214562"/>
            <a:ext cx="6761018" cy="3146002"/>
          </a:xfrm>
          <a:prstGeom prst="rect">
            <a:avLst/>
          </a:prstGeom>
        </p:spPr>
      </p:pic>
    </p:spTree>
    <p:extLst>
      <p:ext uri="{BB962C8B-B14F-4D97-AF65-F5344CB8AC3E}">
        <p14:creationId xmlns:p14="http://schemas.microsoft.com/office/powerpoint/2010/main" val="2283957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F200B-617D-0568-F038-84AA5C10AB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4ED17F-9B51-1F91-75AC-67AF7B407094}"/>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D8E41E02-A827-D56A-C9CD-DC5E9EC86CEC}"/>
              </a:ext>
            </a:extLst>
          </p:cNvPr>
          <p:cNvPicPr>
            <a:picLocks noChangeAspect="1"/>
          </p:cNvPicPr>
          <p:nvPr/>
        </p:nvPicPr>
        <p:blipFill>
          <a:blip r:embed="rId2"/>
          <a:stretch>
            <a:fillRect/>
          </a:stretch>
        </p:blipFill>
        <p:spPr>
          <a:xfrm>
            <a:off x="924443" y="1732448"/>
            <a:ext cx="10529234" cy="3643115"/>
          </a:xfrm>
          <a:prstGeom prst="rect">
            <a:avLst/>
          </a:prstGeom>
        </p:spPr>
      </p:pic>
    </p:spTree>
    <p:extLst>
      <p:ext uri="{BB962C8B-B14F-4D97-AF65-F5344CB8AC3E}">
        <p14:creationId xmlns:p14="http://schemas.microsoft.com/office/powerpoint/2010/main" val="1828386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DB5E-7CAC-4D54-D7F2-D8EF6BE57754}"/>
              </a:ext>
            </a:extLst>
          </p:cNvPr>
          <p:cNvSpPr>
            <a:spLocks noGrp="1"/>
          </p:cNvSpPr>
          <p:nvPr>
            <p:ph type="title"/>
          </p:nvPr>
        </p:nvSpPr>
        <p:spPr/>
        <p:txBody>
          <a:bodyPr/>
          <a:lstStyle/>
          <a:p>
            <a:r>
              <a:rPr lang="en-US" dirty="0"/>
              <a:t>FUNCIÓ D’UTILITAT</a:t>
            </a:r>
          </a:p>
        </p:txBody>
      </p:sp>
      <p:sp>
        <p:nvSpPr>
          <p:cNvPr id="3" name="Content Placeholder 2">
            <a:extLst>
              <a:ext uri="{FF2B5EF4-FFF2-40B4-BE49-F238E27FC236}">
                <a16:creationId xmlns:a16="http://schemas.microsoft.com/office/drawing/2014/main" id="{BED542E9-9A0D-CBCC-A0F9-922922D1197B}"/>
              </a:ext>
            </a:extLst>
          </p:cNvPr>
          <p:cNvSpPr>
            <a:spLocks noGrp="1"/>
          </p:cNvSpPr>
          <p:nvPr>
            <p:ph idx="1"/>
          </p:nvPr>
        </p:nvSpPr>
        <p:spPr/>
        <p:txBody>
          <a:bodyPr/>
          <a:lstStyle/>
          <a:p>
            <a:pPr marL="0" marR="0" indent="0">
              <a:lnSpc>
                <a:spcPct val="107000"/>
              </a:lnSpc>
              <a:spcBef>
                <a:spcPts val="0"/>
              </a:spcBef>
              <a:spcAft>
                <a:spcPts val="800"/>
              </a:spcAft>
              <a:buNone/>
            </a:pPr>
            <a:r>
              <a:rPr lang="ca-ES" sz="1800" dirty="0">
                <a:effectLst/>
                <a:latin typeface="Calibri" panose="020F0502020204030204" pitchFamily="34" charset="0"/>
                <a:ea typeface="MS Mincho" panose="02020609040205080304" pitchFamily="49" charset="-128"/>
                <a:cs typeface="Calibri" panose="020F0502020204030204" pitchFamily="34" charset="0"/>
              </a:rPr>
              <a:t>Quant l’algorisme </a:t>
            </a:r>
            <a:r>
              <a:rPr lang="ca-ES" sz="1800" dirty="0" err="1">
                <a:effectLst/>
                <a:latin typeface="Calibri" panose="020F0502020204030204" pitchFamily="34" charset="0"/>
                <a:ea typeface="MS Mincho" panose="02020609040205080304" pitchFamily="49" charset="-128"/>
                <a:cs typeface="Calibri" panose="020F0502020204030204" pitchFamily="34" charset="0"/>
              </a:rPr>
              <a:t>Minimax</a:t>
            </a:r>
            <a:r>
              <a:rPr lang="ca-ES" sz="1800" dirty="0">
                <a:effectLst/>
                <a:latin typeface="Calibri" panose="020F0502020204030204" pitchFamily="34" charset="0"/>
                <a:ea typeface="MS Mincho" panose="02020609040205080304" pitchFamily="49" charset="-128"/>
                <a:cs typeface="Calibri" panose="020F0502020204030204" pitchFamily="34" charset="0"/>
              </a:rPr>
              <a:t>() hem realitzat diverses modificacions i millores respecte al codi original. Ara utilitza el nombre de jugades (profunditat de cerca), com a modificador que premia/castiga les jugades llargues (i el risc), en/a contra/favor de les jugades curtes. IA sempre és Max, per tant hem definit una heurística negativa per PLAYER, i una heurística positiva per IA. </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36900" indent="0">
              <a:buNone/>
            </a:pPr>
            <a:r>
              <a:rPr lang="ca-ES" sz="1800" dirty="0">
                <a:effectLst/>
                <a:latin typeface="Calibri" panose="020F0502020204030204" pitchFamily="34" charset="0"/>
                <a:ea typeface="MS Mincho" panose="02020609040205080304" pitchFamily="49" charset="-128"/>
              </a:rPr>
              <a:t>Utilitzarem la següent funció com a </a:t>
            </a:r>
            <a:r>
              <a:rPr lang="ca-ES" sz="1800" b="1" dirty="0">
                <a:effectLst/>
                <a:latin typeface="Calibri" panose="020F0502020204030204" pitchFamily="34" charset="0"/>
                <a:ea typeface="MS Mincho" panose="02020609040205080304" pitchFamily="49" charset="-128"/>
              </a:rPr>
              <a:t>funció d'utilitat</a:t>
            </a:r>
            <a:r>
              <a:rPr lang="ca-ES" sz="1800" dirty="0">
                <a:effectLst/>
                <a:latin typeface="Calibri" panose="020F0502020204030204" pitchFamily="34" charset="0"/>
                <a:ea typeface="MS Mincho" panose="02020609040205080304" pitchFamily="49" charset="-128"/>
              </a:rPr>
              <a:t>: </a:t>
            </a:r>
            <a:r>
              <a:rPr lang="ca-ES" sz="1800" dirty="0">
                <a:solidFill>
                  <a:srgbClr val="70AD47"/>
                </a:solidFill>
                <a:effectLst/>
                <a:latin typeface="Calibri" panose="020F0502020204030204" pitchFamily="34" charset="0"/>
                <a:ea typeface="MS Mincho" panose="02020609040205080304" pitchFamily="49" charset="-128"/>
              </a:rPr>
              <a:t>+2 + </a:t>
            </a:r>
            <a:r>
              <a:rPr lang="ca-ES" sz="1800" i="1" dirty="0">
                <a:solidFill>
                  <a:srgbClr val="70AD47"/>
                </a:solidFill>
                <a:effectLst/>
                <a:latin typeface="Calibri" panose="020F0502020204030204" pitchFamily="34" charset="0"/>
                <a:ea typeface="MS Mincho" panose="02020609040205080304" pitchFamily="49" charset="-128"/>
              </a:rPr>
              <a:t>“DEPTH”</a:t>
            </a:r>
            <a:r>
              <a:rPr lang="ca-ES" sz="1800" dirty="0">
                <a:solidFill>
                  <a:srgbClr val="70AD47"/>
                </a:solidFill>
                <a:effectLst/>
                <a:latin typeface="Calibri" panose="020F0502020204030204" pitchFamily="34" charset="0"/>
                <a:ea typeface="MS Mincho" panose="02020609040205080304" pitchFamily="49" charset="-128"/>
              </a:rPr>
              <a:t> </a:t>
            </a:r>
            <a:r>
              <a:rPr lang="ca-ES" sz="1800" dirty="0">
                <a:effectLst/>
                <a:latin typeface="Calibri" panose="020F0502020204030204" pitchFamily="34" charset="0"/>
                <a:ea typeface="MS Mincho" panose="02020609040205080304" pitchFamily="49" charset="-128"/>
              </a:rPr>
              <a:t>si és un estat on guanya IA, -</a:t>
            </a:r>
            <a:r>
              <a:rPr lang="ca-ES" sz="1800" dirty="0">
                <a:solidFill>
                  <a:srgbClr val="ED7D31"/>
                </a:solidFill>
                <a:effectLst/>
                <a:latin typeface="Calibri" panose="020F0502020204030204" pitchFamily="34" charset="0"/>
                <a:ea typeface="MS Mincho" panose="02020609040205080304" pitchFamily="49" charset="-128"/>
              </a:rPr>
              <a:t>2 – </a:t>
            </a:r>
            <a:r>
              <a:rPr lang="ca-ES" sz="1800" i="1" dirty="0">
                <a:solidFill>
                  <a:srgbClr val="ED7D31"/>
                </a:solidFill>
                <a:effectLst/>
                <a:latin typeface="Calibri" panose="020F0502020204030204" pitchFamily="34" charset="0"/>
                <a:ea typeface="MS Mincho" panose="02020609040205080304" pitchFamily="49" charset="-128"/>
              </a:rPr>
              <a:t>“DEPTH”</a:t>
            </a:r>
            <a:r>
              <a:rPr lang="ca-ES" sz="1800" dirty="0">
                <a:solidFill>
                  <a:srgbClr val="ED7D31"/>
                </a:solidFill>
                <a:effectLst/>
                <a:latin typeface="Calibri" panose="020F0502020204030204" pitchFamily="34" charset="0"/>
                <a:ea typeface="MS Mincho" panose="02020609040205080304" pitchFamily="49" charset="-128"/>
              </a:rPr>
              <a:t> </a:t>
            </a:r>
            <a:r>
              <a:rPr lang="ca-ES" sz="1800" dirty="0">
                <a:effectLst/>
                <a:latin typeface="Calibri" panose="020F0502020204030204" pitchFamily="34" charset="0"/>
                <a:ea typeface="MS Mincho" panose="02020609040205080304" pitchFamily="49" charset="-128"/>
              </a:rPr>
              <a:t>si és un estat on ha guanya PLAYER, 0 en cas d’empat. Per posar un exemple si la partida comença amb DEPTH_LIMIT = 10 i troba una solució guanyadora a DEPTH = 5 la funció d’utilitat retornarà 7.</a:t>
            </a:r>
            <a:endParaRPr lang="en-US" dirty="0"/>
          </a:p>
        </p:txBody>
      </p:sp>
    </p:spTree>
    <p:extLst>
      <p:ext uri="{BB962C8B-B14F-4D97-AF65-F5344CB8AC3E}">
        <p14:creationId xmlns:p14="http://schemas.microsoft.com/office/powerpoint/2010/main" val="1962962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584EF-5EE5-2C1E-F81A-A464CD6F6A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5A4948-54E3-A2EB-7767-CF71B44276B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9900C66-E74A-0A3A-A472-EA24AFFB32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9124"/>
            <a:ext cx="12191999" cy="7196248"/>
          </a:xfrm>
          <a:prstGeom prst="rect">
            <a:avLst/>
          </a:prstGeom>
        </p:spPr>
      </p:pic>
    </p:spTree>
    <p:extLst>
      <p:ext uri="{BB962C8B-B14F-4D97-AF65-F5344CB8AC3E}">
        <p14:creationId xmlns:p14="http://schemas.microsoft.com/office/powerpoint/2010/main" val="1174553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09905-5755-4C63-FFA6-9BB071EAC247}"/>
              </a:ext>
            </a:extLst>
          </p:cNvPr>
          <p:cNvSpPr>
            <a:spLocks noGrp="1"/>
          </p:cNvSpPr>
          <p:nvPr>
            <p:ph type="title"/>
          </p:nvPr>
        </p:nvSpPr>
        <p:spPr/>
        <p:txBody>
          <a:bodyPr/>
          <a:lstStyle/>
          <a:p>
            <a:r>
              <a:rPr lang="en-US" dirty="0"/>
              <a:t>5 DIFICULTATS</a:t>
            </a:r>
          </a:p>
        </p:txBody>
      </p:sp>
      <p:sp>
        <p:nvSpPr>
          <p:cNvPr id="3" name="Content Placeholder 2">
            <a:extLst>
              <a:ext uri="{FF2B5EF4-FFF2-40B4-BE49-F238E27FC236}">
                <a16:creationId xmlns:a16="http://schemas.microsoft.com/office/drawing/2014/main" id="{10881905-E054-8914-AB43-5390EB7A6E80}"/>
              </a:ext>
            </a:extLst>
          </p:cNvPr>
          <p:cNvSpPr>
            <a:spLocks noGrp="1"/>
          </p:cNvSpPr>
          <p:nvPr>
            <p:ph idx="1"/>
          </p:nvPr>
        </p:nvSpPr>
        <p:spPr/>
        <p:txBody>
          <a:bodyPr>
            <a:normAutofit fontScale="92500" lnSpcReduction="20000"/>
          </a:bodyPr>
          <a:lstStyle/>
          <a:p>
            <a:pPr marL="457200" marR="0">
              <a:lnSpc>
                <a:spcPct val="107000"/>
              </a:lnSpc>
              <a:spcBef>
                <a:spcPts val="0"/>
              </a:spcBef>
              <a:spcAft>
                <a:spcPts val="800"/>
              </a:spcAft>
            </a:pPr>
            <a:r>
              <a:rPr lang="ca-ES" sz="1800" b="1" dirty="0">
                <a:effectLst/>
                <a:latin typeface="Calibri" panose="020F0502020204030204" pitchFamily="34" charset="0"/>
                <a:ea typeface="MS Mincho" panose="02020609040205080304" pitchFamily="49" charset="-128"/>
                <a:cs typeface="Calibri" panose="020F0502020204030204" pitchFamily="34" charset="0"/>
              </a:rPr>
              <a:t>Fàcil (1):</a:t>
            </a:r>
            <a:r>
              <a:rPr lang="ca-ES" sz="1800" dirty="0">
                <a:effectLst/>
                <a:latin typeface="Calibri" panose="020F0502020204030204" pitchFamily="34" charset="0"/>
                <a:ea typeface="MS Mincho" panose="02020609040205080304" pitchFamily="49" charset="-128"/>
                <a:cs typeface="Calibri" panose="020F0502020204030204" pitchFamily="34" charset="0"/>
              </a:rPr>
              <a:t> Intermitentment IA fa una jugada aleatòria seguida d’una jugada amb la funció d’utilitat descrita abans + heurística a partir del nivell 5. La primera jugada d’IA sempre és aleatòria </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151200" marR="0" indent="0">
              <a:lnSpc>
                <a:spcPct val="107000"/>
              </a:lnSpc>
              <a:spcBef>
                <a:spcPts val="0"/>
              </a:spcBef>
              <a:spcAft>
                <a:spcPts val="800"/>
              </a:spcAft>
              <a:buNone/>
            </a:pPr>
            <a:r>
              <a:rPr lang="ca-ES" sz="1800" b="1" dirty="0">
                <a:effectLst/>
                <a:latin typeface="Calibri" panose="020F0502020204030204" pitchFamily="34" charset="0"/>
                <a:ea typeface="MS Mincho" panose="02020609040205080304" pitchFamily="49" charset="-128"/>
                <a:cs typeface="Calibri" panose="020F0502020204030204" pitchFamily="34" charset="0"/>
              </a:rPr>
              <a:t>				</a:t>
            </a:r>
            <a:r>
              <a:rPr lang="ca-ES" sz="1800" b="1" dirty="0" err="1">
                <a:effectLst/>
                <a:latin typeface="Calibri" panose="020F0502020204030204" pitchFamily="34" charset="0"/>
                <a:ea typeface="MS Mincho" panose="02020609040205080304" pitchFamily="49" charset="-128"/>
                <a:cs typeface="Calibri" panose="020F0502020204030204" pitchFamily="34" charset="0"/>
              </a:rPr>
              <a:t>IA_Aleatori</a:t>
            </a:r>
            <a:r>
              <a:rPr lang="ca-ES" sz="1800" b="1" dirty="0">
                <a:effectLst/>
                <a:latin typeface="Calibri" panose="020F0502020204030204" pitchFamily="34" charset="0"/>
                <a:ea typeface="MS Mincho" panose="02020609040205080304" pitchFamily="49" charset="-128"/>
                <a:cs typeface="Calibri" panose="020F0502020204030204" pitchFamily="34" charset="0"/>
              </a:rPr>
              <a:t> –</a:t>
            </a:r>
            <a:r>
              <a:rPr lang="ca-ES" sz="1800" dirty="0">
                <a:effectLst/>
                <a:latin typeface="Calibri" panose="020F0502020204030204" pitchFamily="34" charset="0"/>
                <a:ea typeface="MS Mincho" panose="02020609040205080304" pitchFamily="49" charset="-128"/>
                <a:cs typeface="Calibri" panose="020F0502020204030204" pitchFamily="34" charset="0"/>
              </a:rPr>
              <a:t> PLAYER – </a:t>
            </a:r>
            <a:r>
              <a:rPr lang="ca-ES" sz="1800" dirty="0" err="1">
                <a:effectLst/>
                <a:latin typeface="Calibri" panose="020F0502020204030204" pitchFamily="34" charset="0"/>
                <a:ea typeface="MS Mincho" panose="02020609040205080304" pitchFamily="49" charset="-128"/>
                <a:cs typeface="Calibri" panose="020F0502020204030204" pitchFamily="34" charset="0"/>
              </a:rPr>
              <a:t>IA_Normal</a:t>
            </a:r>
            <a:r>
              <a:rPr lang="ca-ES" sz="1800" dirty="0">
                <a:effectLst/>
                <a:latin typeface="Calibri" panose="020F0502020204030204" pitchFamily="34" charset="0"/>
                <a:ea typeface="MS Mincho" panose="02020609040205080304" pitchFamily="49" charset="-128"/>
                <a:cs typeface="Calibri" panose="020F0502020204030204" pitchFamily="34" charset="0"/>
              </a:rPr>
              <a:t> – PLAYER – </a:t>
            </a:r>
            <a:r>
              <a:rPr lang="ca-ES" sz="1800" dirty="0" err="1">
                <a:effectLst/>
                <a:latin typeface="Calibri" panose="020F0502020204030204" pitchFamily="34" charset="0"/>
                <a:ea typeface="MS Mincho" panose="02020609040205080304" pitchFamily="49" charset="-128"/>
                <a:cs typeface="Calibri" panose="020F0502020204030204" pitchFamily="34" charset="0"/>
              </a:rPr>
              <a:t>IA_Aleatori</a:t>
            </a:r>
            <a:r>
              <a:rPr lang="ca-ES" sz="1800" dirty="0">
                <a:effectLst/>
                <a:latin typeface="Calibri" panose="020F0502020204030204" pitchFamily="34" charset="0"/>
                <a:ea typeface="MS Mincho" panose="02020609040205080304" pitchFamily="49" charset="-128"/>
                <a:cs typeface="Calibri" panose="020F0502020204030204" pitchFamily="34" charset="0"/>
              </a:rPr>
              <a:t> ... </a:t>
            </a:r>
          </a:p>
          <a:p>
            <a:pPr marL="151200" indent="0">
              <a:lnSpc>
                <a:spcPct val="107000"/>
              </a:lnSpc>
              <a:spcBef>
                <a:spcPts val="0"/>
              </a:spcBef>
              <a:spcAft>
                <a:spcPts val="800"/>
              </a:spcAft>
              <a:buNone/>
            </a:pPr>
            <a:r>
              <a:rPr lang="ca-ES" sz="1800" b="1" dirty="0">
                <a:effectLst/>
                <a:latin typeface="Calibri" panose="020F0502020204030204" pitchFamily="34" charset="0"/>
                <a:ea typeface="MS Mincho" panose="02020609040205080304" pitchFamily="49" charset="-128"/>
                <a:cs typeface="Calibri" panose="020F0502020204030204" pitchFamily="34" charset="0"/>
              </a:rPr>
              <a:t>				PLAYER - </a:t>
            </a:r>
            <a:r>
              <a:rPr lang="ca-ES" sz="1800" b="1" dirty="0" err="1">
                <a:effectLst/>
                <a:latin typeface="Calibri" panose="020F0502020204030204" pitchFamily="34" charset="0"/>
                <a:ea typeface="MS Mincho" panose="02020609040205080304" pitchFamily="49" charset="-128"/>
                <a:cs typeface="Calibri" panose="020F0502020204030204" pitchFamily="34" charset="0"/>
              </a:rPr>
              <a:t>IA_Aleatori</a:t>
            </a:r>
            <a:r>
              <a:rPr lang="ca-ES" sz="1800" b="1" dirty="0">
                <a:effectLst/>
                <a:latin typeface="Calibri" panose="020F0502020204030204" pitchFamily="34" charset="0"/>
                <a:ea typeface="MS Mincho" panose="02020609040205080304" pitchFamily="49" charset="-128"/>
                <a:cs typeface="Calibri" panose="020F0502020204030204" pitchFamily="34" charset="0"/>
              </a:rPr>
              <a:t> –</a:t>
            </a:r>
            <a:r>
              <a:rPr lang="ca-ES" sz="1800" dirty="0">
                <a:effectLst/>
                <a:latin typeface="Calibri" panose="020F0502020204030204" pitchFamily="34" charset="0"/>
                <a:ea typeface="MS Mincho" panose="02020609040205080304" pitchFamily="49" charset="-128"/>
                <a:cs typeface="Calibri" panose="020F0502020204030204" pitchFamily="34" charset="0"/>
              </a:rPr>
              <a:t> PLAYER – </a:t>
            </a:r>
            <a:r>
              <a:rPr lang="ca-ES" sz="1800" dirty="0" err="1">
                <a:effectLst/>
                <a:latin typeface="Calibri" panose="020F0502020204030204" pitchFamily="34" charset="0"/>
                <a:ea typeface="MS Mincho" panose="02020609040205080304" pitchFamily="49" charset="-128"/>
                <a:cs typeface="Calibri" panose="020F0502020204030204" pitchFamily="34" charset="0"/>
              </a:rPr>
              <a:t>IA_Normal</a:t>
            </a:r>
            <a:r>
              <a:rPr lang="ca-ES" sz="1800" dirty="0">
                <a:effectLst/>
                <a:latin typeface="Calibri" panose="020F0502020204030204" pitchFamily="34" charset="0"/>
                <a:ea typeface="MS Mincho" panose="02020609040205080304" pitchFamily="49" charset="-128"/>
                <a:cs typeface="Calibri" panose="020F0502020204030204" pitchFamily="34" charset="0"/>
              </a:rPr>
              <a:t> – PLAYER – </a:t>
            </a:r>
            <a:r>
              <a:rPr lang="ca-ES" sz="1800" dirty="0" err="1">
                <a:effectLst/>
                <a:latin typeface="Calibri" panose="020F0502020204030204" pitchFamily="34" charset="0"/>
                <a:ea typeface="MS Mincho" panose="02020609040205080304" pitchFamily="49" charset="-128"/>
                <a:cs typeface="Calibri" panose="020F0502020204030204" pitchFamily="34" charset="0"/>
              </a:rPr>
              <a:t>IA_Aleatori</a:t>
            </a:r>
            <a:r>
              <a:rPr lang="ca-ES" sz="1800" dirty="0">
                <a:effectLst/>
                <a:latin typeface="Calibri" panose="020F0502020204030204" pitchFamily="34" charset="0"/>
                <a:ea typeface="MS Mincho" panose="02020609040205080304" pitchFamily="49" charset="-128"/>
                <a:cs typeface="Calibri" panose="020F0502020204030204" pitchFamily="34" charset="0"/>
              </a:rPr>
              <a:t> ... </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151200" marR="0" indent="0">
              <a:lnSpc>
                <a:spcPct val="107000"/>
              </a:lnSpc>
              <a:spcBef>
                <a:spcPts val="0"/>
              </a:spcBef>
              <a:spcAft>
                <a:spcPts val="800"/>
              </a:spcAft>
              <a:buNone/>
            </a:pP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457200" marR="0">
              <a:lnSpc>
                <a:spcPct val="107000"/>
              </a:lnSpc>
              <a:spcBef>
                <a:spcPts val="0"/>
              </a:spcBef>
              <a:spcAft>
                <a:spcPts val="800"/>
              </a:spcAft>
            </a:pPr>
            <a:r>
              <a:rPr lang="ca-ES" sz="1800" b="1" dirty="0">
                <a:effectLst/>
                <a:latin typeface="Calibri" panose="020F0502020204030204" pitchFamily="34" charset="0"/>
                <a:ea typeface="MS Mincho" panose="02020609040205080304" pitchFamily="49" charset="-128"/>
                <a:cs typeface="Calibri" panose="020F0502020204030204" pitchFamily="34" charset="0"/>
              </a:rPr>
              <a:t>Normal (2): </a:t>
            </a:r>
            <a:r>
              <a:rPr lang="ca-ES" sz="1800" dirty="0">
                <a:effectLst/>
                <a:latin typeface="Calibri" panose="020F0502020204030204" pitchFamily="34" charset="0"/>
                <a:ea typeface="MS Mincho" panose="02020609040205080304" pitchFamily="49" charset="-128"/>
                <a:cs typeface="Calibri" panose="020F0502020204030204" pitchFamily="34" charset="0"/>
              </a:rPr>
              <a:t>Jugades IA amb la funció d’utilitat descrita abans + heurística a partir del nivell de la profunditat 5.</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457200" marR="0">
              <a:lnSpc>
                <a:spcPct val="107000"/>
              </a:lnSpc>
              <a:spcBef>
                <a:spcPts val="0"/>
              </a:spcBef>
              <a:spcAft>
                <a:spcPts val="800"/>
              </a:spcAft>
            </a:pPr>
            <a:r>
              <a:rPr lang="ca-ES" sz="1800" b="1" dirty="0">
                <a:effectLst/>
                <a:latin typeface="Calibri" panose="020F0502020204030204" pitchFamily="34" charset="0"/>
                <a:ea typeface="MS Mincho" panose="02020609040205080304" pitchFamily="49" charset="-128"/>
                <a:cs typeface="Calibri" panose="020F0502020204030204" pitchFamily="34" charset="0"/>
              </a:rPr>
              <a:t>Difícil (3): </a:t>
            </a:r>
            <a:r>
              <a:rPr lang="ca-ES" sz="1800" dirty="0">
                <a:effectLst/>
                <a:latin typeface="Calibri" panose="020F0502020204030204" pitchFamily="34" charset="0"/>
                <a:ea typeface="MS Mincho" panose="02020609040205080304" pitchFamily="49" charset="-128"/>
                <a:cs typeface="Calibri" panose="020F0502020204030204" pitchFamily="34" charset="0"/>
              </a:rPr>
              <a:t>Jugades IA amb la funció d’utilitat descrita abans + heurística a partir del nivell de la profunditat 9.</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457200" marR="0">
              <a:lnSpc>
                <a:spcPct val="107000"/>
              </a:lnSpc>
              <a:spcBef>
                <a:spcPts val="0"/>
              </a:spcBef>
              <a:spcAft>
                <a:spcPts val="800"/>
              </a:spcAft>
            </a:pPr>
            <a:r>
              <a:rPr lang="ca-ES" sz="1800" b="1" dirty="0">
                <a:effectLst/>
                <a:latin typeface="Calibri" panose="020F0502020204030204" pitchFamily="34" charset="0"/>
                <a:ea typeface="MS Mincho" panose="02020609040205080304" pitchFamily="49" charset="-128"/>
                <a:cs typeface="Calibri" panose="020F0502020204030204" pitchFamily="34" charset="0"/>
              </a:rPr>
              <a:t>Programable (4): </a:t>
            </a:r>
            <a:r>
              <a:rPr lang="ca-ES" sz="1800" dirty="0">
                <a:effectLst/>
                <a:latin typeface="Calibri" panose="020F0502020204030204" pitchFamily="34" charset="0"/>
                <a:ea typeface="MS Mincho" panose="02020609040205080304" pitchFamily="49" charset="-128"/>
                <a:cs typeface="Calibri" panose="020F0502020204030204" pitchFamily="34" charset="0"/>
              </a:rPr>
              <a:t> Límit de profunditat de cerca, component aleatori i posicions cremades definides per les constants.</a:t>
            </a:r>
          </a:p>
          <a:p>
            <a:pPr marL="457200" marR="0">
              <a:lnSpc>
                <a:spcPct val="107000"/>
              </a:lnSpc>
              <a:spcBef>
                <a:spcPts val="0"/>
              </a:spcBef>
              <a:spcAft>
                <a:spcPts val="800"/>
              </a:spcAft>
            </a:pP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457200" marR="0">
              <a:lnSpc>
                <a:spcPct val="107000"/>
              </a:lnSpc>
              <a:spcBef>
                <a:spcPts val="0"/>
              </a:spcBef>
              <a:spcAft>
                <a:spcPts val="800"/>
              </a:spcAft>
            </a:pP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r>
              <a:rPr lang="ca-ES" sz="1800" b="1" dirty="0">
                <a:effectLst/>
                <a:latin typeface="Calibri" panose="020F0502020204030204" pitchFamily="34" charset="0"/>
                <a:ea typeface="MS Mincho" panose="02020609040205080304" pitchFamily="49" charset="-128"/>
              </a:rPr>
              <a:t>Modo </a:t>
            </a:r>
            <a:r>
              <a:rPr lang="ca-ES" sz="1800" b="1" dirty="0" err="1">
                <a:effectLst/>
                <a:latin typeface="Calibri" panose="020F0502020204030204" pitchFamily="34" charset="0"/>
                <a:ea typeface="MS Mincho" panose="02020609040205080304" pitchFamily="49" charset="-128"/>
              </a:rPr>
              <a:t>Dios</a:t>
            </a:r>
            <a:r>
              <a:rPr lang="ca-ES" sz="1800" b="1" dirty="0">
                <a:effectLst/>
                <a:latin typeface="Calibri" panose="020F0502020204030204" pitchFamily="34" charset="0"/>
                <a:ea typeface="MS Mincho" panose="02020609040205080304" pitchFamily="49" charset="-128"/>
              </a:rPr>
              <a:t> (5) </a:t>
            </a:r>
            <a:r>
              <a:rPr lang="ca-ES" sz="1800" dirty="0">
                <a:effectLst/>
                <a:latin typeface="Calibri" panose="020F0502020204030204" pitchFamily="34" charset="0"/>
                <a:ea typeface="MS Mincho" panose="02020609040205080304" pitchFamily="49" charset="-128"/>
              </a:rPr>
              <a:t>: Jugades IA amb la funció d’utilitat descrita abans + heurística a partir del nivell de la profunditat 50. Per un tauler 6x8 les jugades inicials triguen minuts</a:t>
            </a:r>
            <a:endParaRPr lang="en-US" dirty="0"/>
          </a:p>
        </p:txBody>
      </p:sp>
      <p:pic>
        <p:nvPicPr>
          <p:cNvPr id="5" name="Picture 4">
            <a:extLst>
              <a:ext uri="{FF2B5EF4-FFF2-40B4-BE49-F238E27FC236}">
                <a16:creationId xmlns:a16="http://schemas.microsoft.com/office/drawing/2014/main" id="{D603E890-3ED1-F846-5D6E-CADFE9978F85}"/>
              </a:ext>
            </a:extLst>
          </p:cNvPr>
          <p:cNvPicPr>
            <a:picLocks noChangeAspect="1"/>
          </p:cNvPicPr>
          <p:nvPr/>
        </p:nvPicPr>
        <p:blipFill>
          <a:blip r:embed="rId2"/>
          <a:stretch>
            <a:fillRect/>
          </a:stretch>
        </p:blipFill>
        <p:spPr>
          <a:xfrm>
            <a:off x="3011921" y="4301113"/>
            <a:ext cx="7258050" cy="657225"/>
          </a:xfrm>
          <a:prstGeom prst="rect">
            <a:avLst/>
          </a:prstGeom>
        </p:spPr>
      </p:pic>
    </p:spTree>
    <p:extLst>
      <p:ext uri="{BB962C8B-B14F-4D97-AF65-F5344CB8AC3E}">
        <p14:creationId xmlns:p14="http://schemas.microsoft.com/office/powerpoint/2010/main" val="418762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5AD10-E3BF-B875-E522-368B3E7A9B02}"/>
              </a:ext>
            </a:extLst>
          </p:cNvPr>
          <p:cNvSpPr>
            <a:spLocks noGrp="1"/>
          </p:cNvSpPr>
          <p:nvPr>
            <p:ph type="title"/>
          </p:nvPr>
        </p:nvSpPr>
        <p:spPr/>
        <p:txBody>
          <a:bodyPr>
            <a:normAutofit fontScale="90000"/>
          </a:bodyPr>
          <a:lstStyle/>
          <a:p>
            <a:r>
              <a:rPr lang="ca-ES" sz="4000" dirty="0">
                <a:effectLst/>
                <a:latin typeface="Calibri" panose="020F0502020204030204" pitchFamily="34" charset="0"/>
                <a:ea typeface="MS Mincho" panose="02020609040205080304" pitchFamily="49" charset="-128"/>
                <a:cs typeface="Calibri" panose="020F0502020204030204" pitchFamily="34" charset="0"/>
              </a:rPr>
              <a:t>Bibliografia i recursos.</a:t>
            </a:r>
            <a:br>
              <a:rPr lang="en-US" sz="4000" dirty="0">
                <a:effectLst/>
                <a:latin typeface="Calibri" panose="020F0502020204030204" pitchFamily="34" charset="0"/>
                <a:ea typeface="MS Mincho" panose="02020609040205080304" pitchFamily="49" charset="-128"/>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84341A6-7768-AF2D-C664-DF75514B35DD}"/>
              </a:ext>
            </a:extLst>
          </p:cNvPr>
          <p:cNvSpPr>
            <a:spLocks noGrp="1"/>
          </p:cNvSpPr>
          <p:nvPr>
            <p:ph idx="1"/>
          </p:nvPr>
        </p:nvSpPr>
        <p:spPr/>
        <p:txBody>
          <a:bodyPr/>
          <a:lstStyle/>
          <a:p>
            <a:pPr marL="0" marR="0" indent="0">
              <a:lnSpc>
                <a:spcPct val="107000"/>
              </a:lnSpc>
              <a:spcBef>
                <a:spcPts val="0"/>
              </a:spcBef>
              <a:spcAft>
                <a:spcPts val="800"/>
              </a:spcAft>
              <a:buNone/>
            </a:pPr>
            <a:r>
              <a:rPr lang="ca-ES" sz="1800" dirty="0">
                <a:effectLst/>
                <a:latin typeface="Calibri" panose="020F0502020204030204" pitchFamily="34" charset="0"/>
                <a:ea typeface="MS Mincho" panose="02020609040205080304" pitchFamily="49" charset="-128"/>
                <a:cs typeface="Calibri" panose="020F0502020204030204" pitchFamily="34" charset="0"/>
              </a:rPr>
              <a:t>Juárez Álvarez (Setembre del 2018) :RECONOCIMIENTO DE OBJETOS Y ROSTROS CON TÉCNICAS DE VISIÓN POR COMPUTADORA E INTELIGENCIA ARTIFICIAL[Arxiu PDF]. Proporcionat per la universitat d'Andorra. Data </a:t>
            </a:r>
            <a:r>
              <a:rPr lang="ca-ES" sz="1800" dirty="0" err="1">
                <a:effectLst/>
                <a:latin typeface="Calibri" panose="020F0502020204030204" pitchFamily="34" charset="0"/>
                <a:ea typeface="MS Mincho" panose="02020609040205080304" pitchFamily="49" charset="-128"/>
                <a:cs typeface="Calibri" panose="020F0502020204030204" pitchFamily="34" charset="0"/>
              </a:rPr>
              <a:t>d’acces</a:t>
            </a:r>
            <a:r>
              <a:rPr lang="ca-ES" sz="1800" dirty="0">
                <a:effectLst/>
                <a:latin typeface="Calibri" panose="020F0502020204030204" pitchFamily="34" charset="0"/>
                <a:ea typeface="MS Mincho" panose="02020609040205080304" pitchFamily="49" charset="-128"/>
                <a:cs typeface="Calibri" panose="020F0502020204030204" pitchFamily="34" charset="0"/>
              </a:rPr>
              <a:t> 20/06/22.</a:t>
            </a:r>
            <a:endParaRPr lang="en-US" sz="1800" dirty="0">
              <a:effectLst/>
              <a:latin typeface="Calibri" panose="020F0502020204030204" pitchFamily="34" charset="0"/>
              <a:ea typeface="MS Mincho" panose="02020609040205080304" pitchFamily="49" charset="-128"/>
              <a:cs typeface="Times New Roman" panose="02020603050405020304" pitchFamily="18" charset="0"/>
            </a:endParaRPr>
          </a:p>
          <a:p>
            <a:pPr marL="36900" indent="0">
              <a:buNone/>
            </a:pPr>
            <a:r>
              <a:rPr lang="ca-ES" sz="1800" dirty="0" err="1">
                <a:effectLst/>
                <a:latin typeface="Calibri" panose="020F0502020204030204" pitchFamily="34" charset="0"/>
                <a:ea typeface="MS Mincho" panose="02020609040205080304" pitchFamily="49" charset="-128"/>
              </a:rPr>
              <a:t>CodingEntrepreneurs</a:t>
            </a:r>
            <a:r>
              <a:rPr lang="ca-ES" sz="1800" dirty="0">
                <a:effectLst/>
                <a:latin typeface="Calibri" panose="020F0502020204030204" pitchFamily="34" charset="0"/>
                <a:ea typeface="MS Mincho" panose="02020609040205080304" pitchFamily="49" charset="-128"/>
              </a:rPr>
              <a:t> (12 </a:t>
            </a:r>
            <a:r>
              <a:rPr lang="ca-ES" sz="1800" dirty="0" err="1">
                <a:effectLst/>
                <a:latin typeface="Calibri" panose="020F0502020204030204" pitchFamily="34" charset="0"/>
                <a:ea typeface="MS Mincho" panose="02020609040205080304" pitchFamily="49" charset="-128"/>
              </a:rPr>
              <a:t>abr</a:t>
            </a:r>
            <a:r>
              <a:rPr lang="ca-ES" sz="1800" dirty="0">
                <a:effectLst/>
                <a:latin typeface="Calibri" panose="020F0502020204030204" pitchFamily="34" charset="0"/>
                <a:ea typeface="MS Mincho" panose="02020609040205080304" pitchFamily="49" charset="-128"/>
              </a:rPr>
              <a:t> 2018 ) </a:t>
            </a:r>
            <a:r>
              <a:rPr lang="ca-ES" sz="1800" dirty="0" err="1">
                <a:effectLst/>
                <a:latin typeface="Calibri" panose="020F0502020204030204" pitchFamily="34" charset="0"/>
                <a:ea typeface="MS Mincho" panose="02020609040205080304" pitchFamily="49" charset="-128"/>
              </a:rPr>
              <a:t>OpenCV</a:t>
            </a:r>
            <a:r>
              <a:rPr lang="ca-ES" sz="1800" dirty="0">
                <a:effectLst/>
                <a:latin typeface="Calibri" panose="020F0502020204030204" pitchFamily="34" charset="0"/>
                <a:ea typeface="MS Mincho" panose="02020609040205080304" pitchFamily="49" charset="-128"/>
              </a:rPr>
              <a:t> </a:t>
            </a:r>
            <a:r>
              <a:rPr lang="ca-ES" sz="1800" dirty="0" err="1">
                <a:effectLst/>
                <a:latin typeface="Calibri" panose="020F0502020204030204" pitchFamily="34" charset="0"/>
                <a:ea typeface="MS Mincho" panose="02020609040205080304" pitchFamily="49" charset="-128"/>
              </a:rPr>
              <a:t>Python</a:t>
            </a:r>
            <a:r>
              <a:rPr lang="ca-ES" sz="1800" dirty="0">
                <a:effectLst/>
                <a:latin typeface="Calibri" panose="020F0502020204030204" pitchFamily="34" charset="0"/>
                <a:ea typeface="MS Mincho" panose="02020609040205080304" pitchFamily="49" charset="-128"/>
              </a:rPr>
              <a:t> TUTORIAL #4 for </a:t>
            </a:r>
            <a:r>
              <a:rPr lang="ca-ES" sz="1800" dirty="0" err="1">
                <a:effectLst/>
                <a:latin typeface="Calibri" panose="020F0502020204030204" pitchFamily="34" charset="0"/>
                <a:ea typeface="MS Mincho" panose="02020609040205080304" pitchFamily="49" charset="-128"/>
              </a:rPr>
              <a:t>Face</a:t>
            </a:r>
            <a:r>
              <a:rPr lang="ca-ES" sz="1800" dirty="0">
                <a:effectLst/>
                <a:latin typeface="Calibri" panose="020F0502020204030204" pitchFamily="34" charset="0"/>
                <a:ea typeface="MS Mincho" panose="02020609040205080304" pitchFamily="49" charset="-128"/>
              </a:rPr>
              <a:t> </a:t>
            </a:r>
            <a:r>
              <a:rPr lang="ca-ES" sz="1800" dirty="0" err="1">
                <a:effectLst/>
                <a:latin typeface="Calibri" panose="020F0502020204030204" pitchFamily="34" charset="0"/>
                <a:ea typeface="MS Mincho" panose="02020609040205080304" pitchFamily="49" charset="-128"/>
              </a:rPr>
              <a:t>Recognition</a:t>
            </a:r>
            <a:r>
              <a:rPr lang="ca-ES" sz="1800" dirty="0">
                <a:effectLst/>
                <a:latin typeface="Calibri" panose="020F0502020204030204" pitchFamily="34" charset="0"/>
                <a:ea typeface="MS Mincho" panose="02020609040205080304" pitchFamily="49" charset="-128"/>
              </a:rPr>
              <a:t> </a:t>
            </a:r>
            <a:r>
              <a:rPr lang="ca-ES" sz="1800" dirty="0" err="1">
                <a:effectLst/>
                <a:latin typeface="Calibri" panose="020F0502020204030204" pitchFamily="34" charset="0"/>
                <a:ea typeface="MS Mincho" panose="02020609040205080304" pitchFamily="49" charset="-128"/>
              </a:rPr>
              <a:t>and</a:t>
            </a:r>
            <a:r>
              <a:rPr lang="ca-ES" sz="1800" dirty="0">
                <a:effectLst/>
                <a:latin typeface="Calibri" panose="020F0502020204030204" pitchFamily="34" charset="0"/>
                <a:ea typeface="MS Mincho" panose="02020609040205080304" pitchFamily="49" charset="-128"/>
              </a:rPr>
              <a:t> </a:t>
            </a:r>
            <a:r>
              <a:rPr lang="ca-ES" sz="1800" dirty="0" err="1">
                <a:effectLst/>
                <a:latin typeface="Calibri" panose="020F0502020204030204" pitchFamily="34" charset="0"/>
                <a:ea typeface="MS Mincho" panose="02020609040205080304" pitchFamily="49" charset="-128"/>
              </a:rPr>
              <a:t>Identification</a:t>
            </a:r>
            <a:r>
              <a:rPr lang="ca-ES" sz="1800" dirty="0">
                <a:effectLst/>
                <a:latin typeface="Calibri" panose="020F0502020204030204" pitchFamily="34" charset="0"/>
                <a:ea typeface="MS Mincho" panose="02020609040205080304" pitchFamily="49" charset="-128"/>
              </a:rPr>
              <a:t> [Arxiu de Vídeo] </a:t>
            </a:r>
            <a:r>
              <a:rPr lang="ca-ES" sz="1800" u="sng" dirty="0">
                <a:solidFill>
                  <a:srgbClr val="0563C1"/>
                </a:solidFill>
                <a:effectLst/>
                <a:latin typeface="Calibri" panose="020F0502020204030204" pitchFamily="34" charset="0"/>
                <a:ea typeface="MS Mincho" panose="02020609040205080304" pitchFamily="49" charset="-128"/>
                <a:cs typeface="Calibri" panose="020F0502020204030204" pitchFamily="34" charset="0"/>
                <a:hlinkClick r:id="rId2"/>
              </a:rPr>
              <a:t>https://www.youtube.com/watch?v=PmZ29Vta7Vc&amp;t=39s</a:t>
            </a:r>
            <a:r>
              <a:rPr lang="ca-ES" sz="1800" dirty="0">
                <a:effectLst/>
                <a:latin typeface="Calibri" panose="020F0502020204030204" pitchFamily="34" charset="0"/>
                <a:ea typeface="MS Mincho" panose="02020609040205080304" pitchFamily="49" charset="-128"/>
              </a:rPr>
              <a:t> Data </a:t>
            </a:r>
            <a:r>
              <a:rPr lang="ca-ES" sz="1800" dirty="0" err="1">
                <a:effectLst/>
                <a:latin typeface="Calibri" panose="020F0502020204030204" pitchFamily="34" charset="0"/>
                <a:ea typeface="MS Mincho" panose="02020609040205080304" pitchFamily="49" charset="-128"/>
              </a:rPr>
              <a:t>d’acces</a:t>
            </a:r>
            <a:r>
              <a:rPr lang="ca-ES" sz="1800" dirty="0">
                <a:effectLst/>
                <a:latin typeface="Calibri" panose="020F0502020204030204" pitchFamily="34" charset="0"/>
                <a:ea typeface="MS Mincho" panose="02020609040205080304" pitchFamily="49" charset="-128"/>
              </a:rPr>
              <a:t> 20/06/20.</a:t>
            </a:r>
            <a:endParaRPr lang="en-US" dirty="0"/>
          </a:p>
        </p:txBody>
      </p:sp>
    </p:spTree>
    <p:extLst>
      <p:ext uri="{BB962C8B-B14F-4D97-AF65-F5344CB8AC3E}">
        <p14:creationId xmlns:p14="http://schemas.microsoft.com/office/powerpoint/2010/main" val="7910942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321</TotalTime>
  <Words>1095</Words>
  <Application>Microsoft Office PowerPoint</Application>
  <PresentationFormat>Widescreen</PresentationFormat>
  <Paragraphs>44</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Calisto MT</vt:lpstr>
      <vt:lpstr>Wingdings 2</vt:lpstr>
      <vt:lpstr>Slate</vt:lpstr>
      <vt:lpstr>REPTE PARADIGMES DE LA PROGRAMACIÓ I BASES DE DADES   Al. Eric Torrentera Ruiz</vt:lpstr>
      <vt:lpstr>PowerPoint Presentation</vt:lpstr>
      <vt:lpstr>PowerPoint Presentation</vt:lpstr>
      <vt:lpstr>SPLATOON TAD LOE</vt:lpstr>
      <vt:lpstr>SPLATOON TAD LOE</vt:lpstr>
      <vt:lpstr>TAD MOVIMENT</vt:lpstr>
      <vt:lpstr>TAD MOVIMENT</vt:lpstr>
      <vt:lpstr>TAD PARTIDA</vt:lpstr>
      <vt:lpstr>PowerPoint Presentation</vt:lpstr>
      <vt:lpstr>OPERACIONS</vt:lpstr>
      <vt:lpstr>RECONEIXEMENT FACIAL</vt:lpstr>
      <vt:lpstr>Adquirir imatges</vt:lpstr>
      <vt:lpstr>PowerPoint Presentation</vt:lpstr>
      <vt:lpstr>Entrenament</vt:lpstr>
      <vt:lpstr>Fiabilitat = Ajustar %</vt:lpstr>
      <vt:lpstr>PowerPoint Presentation</vt:lpstr>
      <vt:lpstr>GUI INICIAL TKINTER</vt:lpstr>
      <vt:lpstr>PowerPoint Presentation</vt:lpstr>
      <vt:lpstr>PowerPoint Presentation</vt:lpstr>
      <vt:lpstr>PowerPoint Presentation</vt:lpstr>
      <vt:lpstr>PowerPoint Presentation</vt:lpstr>
      <vt:lpstr>PowerPoint Presentation</vt:lpstr>
      <vt:lpstr>Una vegada estem jugant una partida primerament crearem una partida i seguidament generarem els Moviments que seran emmagatzemats en una Partida (Imatge part esquerre) </vt:lpstr>
      <vt:lpstr>Una vegada finalitzada la partida, la partida en si mateixa l'enviarem al servidor Andromeda de la universitat d'Andorra a la DB tericttest.</vt:lpstr>
      <vt:lpstr>PowerPoint Presentation</vt:lpstr>
      <vt:lpstr>Històric de moviments</vt:lpstr>
      <vt:lpstr>Si pressionem la opció 7, posem veure un llistat de les 10 millors partides. Si pressionem la opció 8 podem veure un TOP 10 dels millors jugadors</vt:lpstr>
      <vt:lpstr>Solucions recursives </vt:lpstr>
      <vt:lpstr>PowerPoint Presentation</vt:lpstr>
      <vt:lpstr>Heurística proposada: Heatmap + torn</vt:lpstr>
      <vt:lpstr>PowerPoint Presentation</vt:lpstr>
      <vt:lpstr>FUNCIÓ D’UTILITAT</vt:lpstr>
      <vt:lpstr>PowerPoint Presentation</vt:lpstr>
      <vt:lpstr>5 DIFICULTATS</vt:lpstr>
      <vt:lpstr>Bibliografia i recursos.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REPTE PARADIGMES DE LA PROGRAMACIÓ I BASES DE DADES   Al. Eric Torrentera Ruiz</dc:title>
  <dc:creator>Arthas Menethil</dc:creator>
  <cp:lastModifiedBy>Arthas Menethil</cp:lastModifiedBy>
  <cp:revision>13</cp:revision>
  <dcterms:created xsi:type="dcterms:W3CDTF">2022-06-20T18:55:08Z</dcterms:created>
  <dcterms:modified xsi:type="dcterms:W3CDTF">2022-06-21T10:55:23Z</dcterms:modified>
</cp:coreProperties>
</file>